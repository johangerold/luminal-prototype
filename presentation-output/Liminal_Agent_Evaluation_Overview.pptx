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3e235f9a8e44bb" /><Relationship Type="http://schemas.openxmlformats.org/officeDocument/2006/relationships/extended-properties" Target="/docProps/app.xml" Id="R65aa4bf9896a4a7f" /><Relationship Type="http://schemas.openxmlformats.org/officeDocument/2006/relationships/officeDocument" Target="/ppt/presentation.xml" Id="R9dcde8f8dbb34f2d" /></Relationships>
</file>

<file path=ppt/presentation.xml><?xml version="1.0" encoding="utf-8"?>
<p:presentation xmlns:p="http://schemas.openxmlformats.org/presentationml/2006/main">
  <p:sldMasterIdLst>
    <p:sldMasterId xmlns:r="http://schemas.openxmlformats.org/officeDocument/2006/relationships" id="2147483648" r:id="R9b1c8ecc04fd4d2f"/>
  </p:sldMasterIdLst>
  <p:notesMasterIdLst>
    <p:notesMasterId xmlns:r="http://schemas.openxmlformats.org/officeDocument/2006/relationships" r:id="R89fdc587271a4e78"/>
  </p:notesMasterIdLst>
  <p:sldIdLst>
    <p:sldId xmlns:r="http://schemas.openxmlformats.org/officeDocument/2006/relationships" id="256" r:id="R8708fbd9c874496a"/>
    <p:sldId xmlns:r="http://schemas.openxmlformats.org/officeDocument/2006/relationships" id="257" r:id="R1d75b43c92a34dbd"/>
    <p:sldId xmlns:r="http://schemas.openxmlformats.org/officeDocument/2006/relationships" id="258" r:id="Re3633f77d082424e"/>
    <p:sldId xmlns:r="http://schemas.openxmlformats.org/officeDocument/2006/relationships" id="259" r:id="Rced88d8d412146b9"/>
    <p:sldId xmlns:r="http://schemas.openxmlformats.org/officeDocument/2006/relationships" id="260" r:id="R9757fd7268ae4c49"/>
    <p:sldId xmlns:r="http://schemas.openxmlformats.org/officeDocument/2006/relationships" id="261" r:id="Rb5ee708f2ea04b3b"/>
    <p:sldId xmlns:r="http://schemas.openxmlformats.org/officeDocument/2006/relationships" id="262" r:id="R474c883077024797"/>
    <p:sldId xmlns:r="http://schemas.openxmlformats.org/officeDocument/2006/relationships" id="263" r:id="R1bb48b79ea574801"/>
    <p:sldId xmlns:r="http://schemas.openxmlformats.org/officeDocument/2006/relationships" id="264" r:id="R74b57d6103364926"/>
    <p:sldId xmlns:r="http://schemas.openxmlformats.org/officeDocument/2006/relationships" id="265" r:id="Rb81ea01a99174313"/>
    <p:sldId xmlns:r="http://schemas.openxmlformats.org/officeDocument/2006/relationships" id="266" r:id="Ree4ba4842ded4c6f"/>
    <p:sldId xmlns:r="http://schemas.openxmlformats.org/officeDocument/2006/relationships" id="267" r:id="R96bd097901f94a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2bfb1b71c44802" /><Relationship Type="http://schemas.openxmlformats.org/officeDocument/2006/relationships/slideMaster" Target="/ppt/slideMasters/slideMaster1.xml" Id="R9b1c8ecc04fd4d2f" /><Relationship Type="http://schemas.openxmlformats.org/officeDocument/2006/relationships/notesMaster" Target="/ppt/notesMasters/notesMaster1.xml" Id="R89fdc587271a4e78" /><Relationship Type="http://schemas.openxmlformats.org/officeDocument/2006/relationships/presProps" Target="/ppt/presProps.xml" Id="R14b84cd2f4e84a53" /><Relationship Type="http://schemas.openxmlformats.org/officeDocument/2006/relationships/tableStyles" Target="/ppt/tableStyles.xml" Id="Rcc9489f9f3124b09" /><Relationship Type="http://schemas.openxmlformats.org/officeDocument/2006/relationships/slide" Target="/ppt/slides/slide1.xml" Id="R8708fbd9c874496a" /><Relationship Type="http://schemas.openxmlformats.org/officeDocument/2006/relationships/slide" Target="/ppt/slides/slide2.xml" Id="R1d75b43c92a34dbd" /><Relationship Type="http://schemas.openxmlformats.org/officeDocument/2006/relationships/slide" Target="/ppt/slides/slide3.xml" Id="Re3633f77d082424e" /><Relationship Type="http://schemas.openxmlformats.org/officeDocument/2006/relationships/slide" Target="/ppt/slides/slide4.xml" Id="Rced88d8d412146b9" /><Relationship Type="http://schemas.openxmlformats.org/officeDocument/2006/relationships/slide" Target="/ppt/slides/slide5.xml" Id="R9757fd7268ae4c49" /><Relationship Type="http://schemas.openxmlformats.org/officeDocument/2006/relationships/slide" Target="/ppt/slides/slide6.xml" Id="Rb5ee708f2ea04b3b" /><Relationship Type="http://schemas.openxmlformats.org/officeDocument/2006/relationships/slide" Target="/ppt/slides/slide7.xml" Id="R474c883077024797" /><Relationship Type="http://schemas.openxmlformats.org/officeDocument/2006/relationships/slide" Target="/ppt/slides/slide8.xml" Id="R1bb48b79ea574801" /><Relationship Type="http://schemas.openxmlformats.org/officeDocument/2006/relationships/slide" Target="/ppt/slides/slide9.xml" Id="R74b57d6103364926" /><Relationship Type="http://schemas.openxmlformats.org/officeDocument/2006/relationships/slide" Target="/ppt/slides/slide10.xml" Id="Rb81ea01a99174313" /><Relationship Type="http://schemas.openxmlformats.org/officeDocument/2006/relationships/slide" Target="/ppt/slides/slide11.xml" Id="Ree4ba4842ded4c6f" /><Relationship Type="http://schemas.openxmlformats.org/officeDocument/2006/relationships/slide" Target="/ppt/slides/slide12.xml" Id="R96bd097901f94a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ab81210989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a9fad91e2b45ab" /><Relationship Type="http://schemas.openxmlformats.org/officeDocument/2006/relationships/notesMaster" Target="/ppt/notesMasters/notesMaster1.xml" Id="R78ba6a84e3c843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f33ba334104fee" /><Relationship Type="http://schemas.openxmlformats.org/officeDocument/2006/relationships/notesMaster" Target="/ppt/notesMasters/notesMaster1.xml" Id="R299f7915204744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c6539eeca64e29" /><Relationship Type="http://schemas.openxmlformats.org/officeDocument/2006/relationships/notesMaster" Target="/ppt/notesMasters/notesMaster1.xml" Id="Re4e13ac643b947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63c85bbfd341c9" /><Relationship Type="http://schemas.openxmlformats.org/officeDocument/2006/relationships/notesMaster" Target="/ppt/notesMasters/notesMaster1.xml" Id="Rcf68de86aef54c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53cab183b64a01" /><Relationship Type="http://schemas.openxmlformats.org/officeDocument/2006/relationships/notesMaster" Target="/ppt/notesMasters/notesMaster1.xml" Id="R447f687efa7a40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fee09656f04f05" /><Relationship Type="http://schemas.openxmlformats.org/officeDocument/2006/relationships/notesMaster" Target="/ppt/notesMasters/notesMaster1.xml" Id="R81e539f5fde4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d8f1dd54a04d8b" /><Relationship Type="http://schemas.openxmlformats.org/officeDocument/2006/relationships/notesMaster" Target="/ppt/notesMasters/notesMaster1.xml" Id="R62f4800cf42442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f963becfae4dd3" /><Relationship Type="http://schemas.openxmlformats.org/officeDocument/2006/relationships/notesMaster" Target="/ppt/notesMasters/notesMaster1.xml" Id="R11b7c8ee03db41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40b86748b8476a" /><Relationship Type="http://schemas.openxmlformats.org/officeDocument/2006/relationships/notesMaster" Target="/ppt/notesMasters/notesMaster1.xml" Id="Re063226b50f847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1fd78eec7047b9" /><Relationship Type="http://schemas.openxmlformats.org/officeDocument/2006/relationships/notesMaster" Target="/ppt/notesMasters/notesMaster1.xml" Id="Ree392cbfab0347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192298062644a7" /><Relationship Type="http://schemas.openxmlformats.org/officeDocument/2006/relationships/notesMaster" Target="/ppt/notesMasters/notesMaster1.xml" Id="Rb3892a44fc9648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fe20a983fa4f80" /><Relationship Type="http://schemas.openxmlformats.org/officeDocument/2006/relationships/notesMaster" Target="/ppt/notesMasters/notesMaster1.xml" Id="R97eab8747bb54b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gap Liminal makes visible: the instruction is easy to read, but the agent's actual actions and effects need evidence. This deck explains the prototype in a ten-minute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frame the talk. The structure moves from the product idea, through the execution path, to the evidence and the honest limits of the current live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Liminal is an evaluation workspace, not a chat transcript. The core idea is to separate intent, action, and outcome so a reviewer can see what happened and what remains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is the reason for the product. An agent can claim completion, but Liminal checks the request, the recorded tools, and the resulting filesystem state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seeded scenarios cover success, ambiguity, containment, recovery, incompleteness, and duplicate action. Every run starts from the same synthetic fixture so results are comparable.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key handoff is between Gemini's choice and the guarded filesystem service. The service enforces the path boundary before any effect reaches the synthetic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boundary is a product feature and a proof point. The guard rejects traversal, absolute paths, and unauthorized destructive actions before they can touch anything outside the owned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is chronological and inspectable. The report adds a simple story layer for presentation while keeping raw arguments, fingerprints, and event links expandable for technical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does not collapse every outcome into pass or fail. Execution status, mode, evidence completeness, and verdict answer different questions. The chart counts the three saved scripted examples used in the demonstration: one PASS and two FAIL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time on these examples. The fallback failures are intentional, explicit demonstrations of what the evaluator catches. The live quota interruption is shown as UNCERTAIN, not rewritten as a behavioral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content section with the product lesson: reliability comes from the chain of request, action, evidence, and evaluation. The prototype keeps gaps visible so the audience can trust the result they are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panel and invite questions. If useful, return to the live product and show the saved PASS and FAIL fallback reports, then explain why the live rate-limited result remains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ab09a8ddbc4f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3d6ecc233a46af" /><Relationship Type="http://schemas.openxmlformats.org/officeDocument/2006/relationships/slideLayout" Target="/ppt/slideLayouts/slideLayout1.xml" Id="R0d1623788a634d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1623788a634d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5c2fe859374440" /><Relationship Type="http://schemas.openxmlformats.org/officeDocument/2006/relationships/image" Target="/ppt/media/image.png" Id="R770ef6d012dd478c" /><Relationship Type="http://schemas.openxmlformats.org/officeDocument/2006/relationships/notesSlide" Target="/ppt/notesSlides/notesSlide1.xml" Id="Re9cf0172722746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f1a75815794432" /><Relationship Type="http://schemas.openxmlformats.org/officeDocument/2006/relationships/notesSlide" Target="/ppt/notesSlides/notesSlide2.xml" Id="R4cccf22663d143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488ea3325c46f4" /><Relationship Type="http://schemas.openxmlformats.org/officeDocument/2006/relationships/notesSlide" Target="/ppt/notesSlides/notesSlide3.xml" Id="R65d54f03ed1743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7f970baf7847a9" /><Relationship Type="http://schemas.openxmlformats.org/officeDocument/2006/relationships/notesSlide" Target="/ppt/notesSlides/notesSlide4.xml" Id="R26335840a49346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d12b0690a84c02" /><Relationship Type="http://schemas.openxmlformats.org/officeDocument/2006/relationships/notesSlide" Target="/ppt/notesSlides/notesSlide5.xml" Id="R70542b33685947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0a6fbf918f4247" /><Relationship Type="http://schemas.openxmlformats.org/officeDocument/2006/relationships/notesSlide" Target="/ppt/notesSlides/notesSlide6.xml" Id="R8b5c3d74f36044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434dadabe94e13" /><Relationship Type="http://schemas.openxmlformats.org/officeDocument/2006/relationships/notesSlide" Target="/ppt/notesSlides/notesSlide7.xml" Id="Rce44271ef79a44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c698e6e3964af4" /><Relationship Type="http://schemas.openxmlformats.org/officeDocument/2006/relationships/notesSlide" Target="/ppt/notesSlides/notesSlide8.xml" Id="Rd44364abbd3542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8fa4938caa460f" /><Relationship Type="http://schemas.openxmlformats.org/officeDocument/2006/relationships/notesSlide" Target="/ppt/notesSlides/notesSlide9.xml" Id="R06d7d61e972148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c6932516324c48" /><Relationship Type="http://schemas.openxmlformats.org/officeDocument/2006/relationships/notesSlide" Target="/ppt/notesSlides/notesSlide10.xml" Id="R460d8618783f45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0c27d4aab247e7" /><Relationship Type="http://schemas.openxmlformats.org/officeDocument/2006/relationships/notesSlide" Target="/ppt/notesSlides/notesSlide11.xml" Id="R0ec2c8f4d2c641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29bf4af57c4e1f" /><Relationship Type="http://schemas.openxmlformats.org/officeDocument/2006/relationships/notesSlide" Target="/ppt/notesSlides/notesSlide12.xml" Id="R34946e3316ab4823" /></Relationships>
</file>

<file path=ppt/slides/slide1.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FEBAB6-6C58-458F-B8D2-A0DC54B0CD44}"/>
              </a:ext>
            </a:extLst>
          </p:cNvPr>
          <p:cNvSpPr>
            <a:spLocks xmlns:a="http://schemas.openxmlformats.org/drawingml/2006/main" noGrp="1"/>
          </p:cNvSpPr>
          <p:nvPr/>
        </p:nvSpPr>
        <p:spPr>
          <a:xfrm xmlns:a="http://schemas.openxmlformats.org/drawingml/2006/main">
            <a:off x="685800" y="5905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AI AGENT EVALUATION &amp; RELIABILITY</a:t>
            </a:r>
          </a:p>
        </p:txBody>
      </p:sp>
      <p:sp>
        <p:nvSpPr>
          <p:cNvPr id="2" name="">
            <a:extLst xmlns:a="http://schemas.openxmlformats.org/drawingml/2006/main">
              <a:ext uri="{FF2B5EF4-FFF2-40B4-BE49-F238E27FC236}">
                <a16:creationId xmlns:a16="http://schemas.microsoft.com/office/drawing/2014/main" id="{FEDF3AD6-7A68-4345-AD15-39F782E5FB97}"/>
              </a:ext>
            </a:extLst>
          </p:cNvPr>
          <p:cNvSpPr>
            <a:spLocks xmlns:a="http://schemas.openxmlformats.org/drawingml/2006/main" noGrp="1"/>
          </p:cNvSpPr>
          <p:nvPr/>
        </p:nvSpPr>
        <p:spPr>
          <a:xfrm xmlns:a="http://schemas.openxmlformats.org/drawingml/2006/main">
            <a:off x="685800" y="109537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6150" b="1" i="0">
                <a:solidFill>
                  <a:srgbClr val="171817"/>
                </a:solidFill>
                <a:latin typeface="Arial"/>
                <a:ea typeface="Arial"/>
                <a:cs typeface="Arial"/>
              </a:defRPr>
            </a:pPr>
            <a:r>
              <a:rPr sz="6150" b="1" i="0">
                <a:solidFill>
                  <a:srgbClr val="171817"/>
                </a:solidFill>
                <a:latin typeface="Arial"/>
                <a:ea typeface="Arial"/>
                <a:cs typeface="Arial"/>
              </a:rPr>
              <a:t>Liminal</a:t>
            </a:r>
          </a:p>
        </p:txBody>
      </p:sp>
      <p:sp>
        <p:nvSpPr>
          <p:cNvPr id="3" name="">
            <a:extLst xmlns:a="http://schemas.openxmlformats.org/drawingml/2006/main">
              <a:ext uri="{FF2B5EF4-FFF2-40B4-BE49-F238E27FC236}">
                <a16:creationId xmlns:a16="http://schemas.microsoft.com/office/drawing/2014/main" id="{5F1B858B-BC8C-4AB5-B8A6-E2FD8A6A8ECD}"/>
              </a:ext>
            </a:extLst>
          </p:cNvPr>
          <p:cNvSpPr>
            <a:spLocks xmlns:a="http://schemas.openxmlformats.org/drawingml/2006/main" noGrp="1"/>
          </p:cNvSpPr>
          <p:nvPr/>
        </p:nvSpPr>
        <p:spPr>
          <a:xfrm xmlns:a="http://schemas.openxmlformats.org/drawingml/2006/main">
            <a:off x="723900" y="23431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024"/>
          </a:bodyPr>
          <a:lstStyle xmlns:a="http://schemas.openxmlformats.org/drawingml/2006/main"/>
          <a:p xmlns:a="http://schemas.openxmlformats.org/drawingml/2006/main">
            <a:pPr>
              <a:defRPr sz="1725" b="0" i="0">
                <a:solidFill>
                  <a:srgbClr val="171817"/>
                </a:solidFill>
                <a:latin typeface="Arial"/>
                <a:ea typeface="Arial"/>
                <a:cs typeface="Arial"/>
              </a:defRPr>
            </a:pPr>
            <a:r>
              <a:rPr sz="1725" b="0" i="0">
                <a:solidFill>
                  <a:srgbClr val="171817"/>
                </a:solidFill>
                <a:latin typeface="Arial"/>
                <a:ea typeface="Arial"/>
                <a:cs typeface="Arial"/>
              </a:rPr>
              <a:t>Between what you ask and what an agent does.</a:t>
            </a:r>
          </a:p>
        </p:txBody>
      </p:sp>
      <p:sp>
        <p:nvSpPr>
          <p:cNvPr id="4" name="">
            <a:extLst xmlns:a="http://schemas.openxmlformats.org/drawingml/2006/main">
              <a:ext uri="{FF2B5EF4-FFF2-40B4-BE49-F238E27FC236}">
                <a16:creationId xmlns:a16="http://schemas.microsoft.com/office/drawing/2014/main" id="{CF316455-43D5-486F-B5AB-5D87C6A0C1EA}"/>
              </a:ext>
            </a:extLst>
          </p:cNvPr>
          <p:cNvSpPr>
            <a:spLocks xmlns:a="http://schemas.openxmlformats.org/drawingml/2006/main" noGrp="1"/>
          </p:cNvSpPr>
          <p:nvPr/>
        </p:nvSpPr>
        <p:spPr>
          <a:xfrm xmlns:a="http://schemas.openxmlformats.org/drawingml/2006/main">
            <a:off x="723900" y="295275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A working prototype for observable actions, guarded tools, and evidence-based verdicts.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70ef6d012dd478c"/>
          <a:stretch xmlns:a="http://schemas.openxmlformats.org/drawingml/2006/main"/>
        </p:blipFill>
        <p:spPr>
          <a:xfrm xmlns:a="http://schemas.openxmlformats.org/drawingml/2006/main">
            <a:off x="5334000" y="1270000"/>
            <a:ext cx="6191250" cy="412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BD5E837-45C0-406D-B92A-AB68DE8EE9F2}"/>
              </a:ext>
            </a:extLst>
          </p:cNvPr>
          <p:cNvSpPr>
            <a:spLocks xmlns:a="http://schemas.openxmlformats.org/drawingml/2006/main" noGrp="1"/>
          </p:cNvSpPr>
          <p:nvPr/>
        </p:nvSpPr>
        <p:spPr>
          <a:xfrm xmlns:a="http://schemas.openxmlformats.org/drawingml/2006/main">
            <a:off x="685800" y="5905500"/>
            <a:ext cx="10820400" cy="0"/>
          </a:xfrm>
          <a:prstGeom xmlns:a="http://schemas.openxmlformats.org/drawingml/2006/main" prst="line">
            <a:avLst/>
          </a:prstGeom>
          <a:ln xmlns:a="http://schemas.openxmlformats.org/drawingml/2006/main" w="19050">
            <a:solidFill>
              <a:srgbClr val="171817"/>
            </a:solidFill>
          </a:ln>
        </p:spPr>
      </p:sp>
      <p:sp>
        <p:nvSpPr>
          <p:cNvPr id="7" name="">
            <a:extLst xmlns:a="http://schemas.openxmlformats.org/drawingml/2006/main">
              <a:ext uri="{FF2B5EF4-FFF2-40B4-BE49-F238E27FC236}">
                <a16:creationId xmlns:a16="http://schemas.microsoft.com/office/drawing/2014/main" id="{547BD01F-B959-47BF-8F9B-C1A02E21A2F6}"/>
              </a:ext>
            </a:extLst>
          </p:cNvPr>
          <p:cNvSpPr>
            <a:spLocks xmlns:a="http://schemas.openxmlformats.org/drawingml/2006/main" noGrp="1"/>
          </p:cNvSpPr>
          <p:nvPr/>
        </p:nvSpPr>
        <p:spPr>
          <a:xfrm xmlns:a="http://schemas.openxmlformats.org/drawingml/2006/main">
            <a:off x="685800" y="60960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defRPr sz="750" b="1" i="0">
                <a:solidFill>
                  <a:srgbClr val="62645F"/>
                </a:solidFill>
                <a:latin typeface="Arial"/>
                <a:ea typeface="Arial"/>
                <a:cs typeface="Arial"/>
              </a:defRPr>
            </a:pPr>
            <a:r>
              <a:rPr sz="750" b="1" i="0">
                <a:solidFill>
                  <a:srgbClr val="62645F"/>
                </a:solidFill>
                <a:latin typeface="Arial"/>
                <a:ea typeface="Arial"/>
                <a:cs typeface="Arial"/>
              </a:rPr>
              <a:t>PROJECT PRESENTATION</a:t>
            </a:r>
          </a:p>
        </p:txBody>
      </p:sp>
      <p:sp>
        <p:nvSpPr>
          <p:cNvPr id="8" name="">
            <a:extLst xmlns:a="http://schemas.openxmlformats.org/drawingml/2006/main">
              <a:ext uri="{FF2B5EF4-FFF2-40B4-BE49-F238E27FC236}">
                <a16:creationId xmlns:a16="http://schemas.microsoft.com/office/drawing/2014/main" id="{6769D3DC-5BE3-422D-A9CF-339C36B25327}"/>
              </a:ext>
            </a:extLst>
          </p:cNvPr>
          <p:cNvSpPr>
            <a:spLocks xmlns:a="http://schemas.openxmlformats.org/drawingml/2006/main" noGrp="1"/>
          </p:cNvSpPr>
          <p:nvPr/>
        </p:nvSpPr>
        <p:spPr>
          <a:xfrm xmlns:a="http://schemas.openxmlformats.org/drawingml/2006/main">
            <a:off x="10001250" y="6096000"/>
            <a:ext cx="1504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defRPr sz="750" b="0" i="0">
                <a:solidFill>
                  <a:srgbClr val="62645F"/>
                </a:solidFill>
                <a:latin typeface="Arial"/>
                <a:ea typeface="Arial"/>
                <a:cs typeface="Arial"/>
              </a:defRPr>
            </a:pPr>
            <a:r>
              <a:rPr sz="750" b="0" i="0">
                <a:solidFill>
                  <a:srgbClr val="62645F"/>
                </a:solidFill>
                <a:latin typeface="Arial"/>
                <a:ea typeface="Arial"/>
                <a:cs typeface="Arial"/>
              </a:rPr>
              <a:t>October 2026</a:t>
            </a:r>
          </a:p>
        </p:txBody>
      </p:sp>
    </p:spTree>
    <p:extLst>
      <p:ext uri="{BB962C8B-B14F-4D97-AF65-F5344CB8AC3E}">
        <p14:creationId xmlns:p14="http://schemas.microsoft.com/office/powerpoint/2010/main" val="1215779882"/>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1D9D915-1F48-4CDC-B844-7728A277CD5F}"/>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CONTENTS</a:t>
            </a:r>
          </a:p>
        </p:txBody>
      </p:sp>
      <p:sp>
        <p:nvSpPr>
          <p:cNvPr id="2" name="">
            <a:extLst xmlns:a="http://schemas.openxmlformats.org/drawingml/2006/main">
              <a:ext uri="{FF2B5EF4-FFF2-40B4-BE49-F238E27FC236}">
                <a16:creationId xmlns:a16="http://schemas.microsoft.com/office/drawing/2014/main" id="{9DAB2A96-5883-4DA0-BBED-3D3FEE5DC77E}"/>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Three questions about Liminal</a:t>
            </a:r>
          </a:p>
        </p:txBody>
      </p:sp>
      <p:sp>
        <p:nvSpPr>
          <p:cNvPr id="3" name="">
            <a:extLst xmlns:a="http://schemas.openxmlformats.org/drawingml/2006/main">
              <a:ext uri="{FF2B5EF4-FFF2-40B4-BE49-F238E27FC236}">
                <a16:creationId xmlns:a16="http://schemas.microsoft.com/office/drawing/2014/main" id="{DD30EE24-E7A1-4885-AEF4-383380D53BBF}"/>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02 — 12</a:t>
            </a:r>
          </a:p>
        </p:txBody>
      </p:sp>
      <p:sp>
        <p:nvSpPr>
          <p:cNvPr id="4" name="">
            <a:extLst xmlns:a="http://schemas.openxmlformats.org/drawingml/2006/main">
              <a:ext uri="{FF2B5EF4-FFF2-40B4-BE49-F238E27FC236}">
                <a16:creationId xmlns:a16="http://schemas.microsoft.com/office/drawing/2014/main" id="{F07642AE-2350-4DDD-91E1-1E861340C99E}"/>
              </a:ext>
            </a:extLst>
          </p:cNvPr>
          <p:cNvSpPr>
            <a:spLocks xmlns:a="http://schemas.openxmlformats.org/drawingml/2006/main" noGrp="1"/>
          </p:cNvSpPr>
          <p:nvPr/>
        </p:nvSpPr>
        <p:spPr>
          <a:xfrm xmlns:a="http://schemas.openxmlformats.org/drawingml/2006/main">
            <a:off x="857250" y="1809750"/>
            <a:ext cx="71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62645F"/>
                </a:solidFill>
                <a:latin typeface="Arial"/>
                <a:ea typeface="Arial"/>
                <a:cs typeface="Arial"/>
              </a:defRPr>
            </a:pPr>
            <a:r>
              <a:rPr sz="1800" b="1" i="0">
                <a:solidFill>
                  <a:srgbClr val="62645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0EAD2C9-81D9-400A-975C-474B4C0C17C7}"/>
              </a:ext>
            </a:extLst>
          </p:cNvPr>
          <p:cNvSpPr>
            <a:spLocks xmlns:a="http://schemas.openxmlformats.org/drawingml/2006/main" noGrp="1"/>
          </p:cNvSpPr>
          <p:nvPr/>
        </p:nvSpPr>
        <p:spPr>
          <a:xfrm xmlns:a="http://schemas.openxmlformats.org/drawingml/2006/main">
            <a:off x="1809750" y="17811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What is it?</a:t>
            </a:r>
          </a:p>
        </p:txBody>
      </p:sp>
      <p:sp>
        <p:nvSpPr>
          <p:cNvPr id="6" name="">
            <a:extLst xmlns:a="http://schemas.openxmlformats.org/drawingml/2006/main">
              <a:ext uri="{FF2B5EF4-FFF2-40B4-BE49-F238E27FC236}">
                <a16:creationId xmlns:a16="http://schemas.microsoft.com/office/drawing/2014/main" id="{2619A40D-14EF-4E76-BC12-C185669E22C2}"/>
              </a:ext>
            </a:extLst>
          </p:cNvPr>
          <p:cNvSpPr>
            <a:spLocks xmlns:a="http://schemas.openxmlformats.org/drawingml/2006/main" noGrp="1"/>
          </p:cNvSpPr>
          <p:nvPr/>
        </p:nvSpPr>
        <p:spPr>
          <a:xfrm xmlns:a="http://schemas.openxmlformats.org/drawingml/2006/main">
            <a:off x="5619750" y="1809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The problem, audience, and scenarios the prototype makes visible.</a:t>
            </a:r>
          </a:p>
        </p:txBody>
      </p:sp>
      <p:sp>
        <p:nvSpPr>
          <p:cNvPr id="7" name="">
            <a:extLst xmlns:a="http://schemas.openxmlformats.org/drawingml/2006/main">
              <a:ext uri="{FF2B5EF4-FFF2-40B4-BE49-F238E27FC236}">
                <a16:creationId xmlns:a16="http://schemas.microsoft.com/office/drawing/2014/main" id="{3946E6D9-C5A3-4BE7-B291-4D1D2B2C0EAC}"/>
              </a:ext>
            </a:extLst>
          </p:cNvPr>
          <p:cNvSpPr>
            <a:spLocks xmlns:a="http://schemas.openxmlformats.org/drawingml/2006/main" noGrp="1"/>
          </p:cNvSpPr>
          <p:nvPr/>
        </p:nvSpPr>
        <p:spPr>
          <a:xfrm xmlns:a="http://schemas.openxmlformats.org/drawingml/2006/main">
            <a:off x="1809750" y="2495550"/>
            <a:ext cx="8572500" cy="0"/>
          </a:xfrm>
          <a:prstGeom xmlns:a="http://schemas.openxmlformats.org/drawingml/2006/main" prst="line">
            <a:avLst/>
          </a:prstGeom>
          <a:ln xmlns:a="http://schemas.openxmlformats.org/drawingml/2006/main" w="9525">
            <a:solidFill>
              <a:srgbClr val="D8D9D4"/>
            </a:solidFill>
          </a:ln>
        </p:spPr>
      </p:sp>
      <p:sp>
        <p:nvSpPr>
          <p:cNvPr id="8" name="">
            <a:extLst xmlns:a="http://schemas.openxmlformats.org/drawingml/2006/main">
              <a:ext uri="{FF2B5EF4-FFF2-40B4-BE49-F238E27FC236}">
                <a16:creationId xmlns:a16="http://schemas.microsoft.com/office/drawing/2014/main" id="{BAB10A77-FE58-4E6C-BAB5-400AF97E6CC5}"/>
              </a:ext>
            </a:extLst>
          </p:cNvPr>
          <p:cNvSpPr>
            <a:spLocks xmlns:a="http://schemas.openxmlformats.org/drawingml/2006/main" noGrp="1"/>
          </p:cNvSpPr>
          <p:nvPr/>
        </p:nvSpPr>
        <p:spPr>
          <a:xfrm xmlns:a="http://schemas.openxmlformats.org/drawingml/2006/main">
            <a:off x="857250" y="3143250"/>
            <a:ext cx="71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62645F"/>
                </a:solidFill>
                <a:latin typeface="Arial"/>
                <a:ea typeface="Arial"/>
                <a:cs typeface="Arial"/>
              </a:defRPr>
            </a:pPr>
            <a:r>
              <a:rPr sz="1800" b="1" i="0">
                <a:solidFill>
                  <a:srgbClr val="62645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D7066B7-E5B0-4F4B-B209-AEF1F0DC9CF0}"/>
              </a:ext>
            </a:extLst>
          </p:cNvPr>
          <p:cNvSpPr>
            <a:spLocks xmlns:a="http://schemas.openxmlformats.org/drawingml/2006/main" noGrp="1"/>
          </p:cNvSpPr>
          <p:nvPr/>
        </p:nvSpPr>
        <p:spPr>
          <a:xfrm xmlns:a="http://schemas.openxmlformats.org/drawingml/2006/main">
            <a:off x="1809750" y="31146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How does it work?</a:t>
            </a:r>
          </a:p>
        </p:txBody>
      </p:sp>
      <p:sp>
        <p:nvSpPr>
          <p:cNvPr id="10" name="">
            <a:extLst xmlns:a="http://schemas.openxmlformats.org/drawingml/2006/main">
              <a:ext uri="{FF2B5EF4-FFF2-40B4-BE49-F238E27FC236}">
                <a16:creationId xmlns:a16="http://schemas.microsoft.com/office/drawing/2014/main" id="{38B5236C-D401-4BB4-B0B8-30632C159692}"/>
              </a:ext>
            </a:extLst>
          </p:cNvPr>
          <p:cNvSpPr>
            <a:spLocks xmlns:a="http://schemas.openxmlformats.org/drawingml/2006/main" noGrp="1"/>
          </p:cNvSpPr>
          <p:nvPr/>
        </p:nvSpPr>
        <p:spPr>
          <a:xfrm xmlns:a="http://schemas.openxmlformats.org/drawingml/2006/main">
            <a:off x="5619750" y="31432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The path from an instruction to guarded actions and a saved trace.</a:t>
            </a:r>
          </a:p>
        </p:txBody>
      </p:sp>
      <p:sp>
        <p:nvSpPr>
          <p:cNvPr id="11" name="">
            <a:extLst xmlns:a="http://schemas.openxmlformats.org/drawingml/2006/main">
              <a:ext uri="{FF2B5EF4-FFF2-40B4-BE49-F238E27FC236}">
                <a16:creationId xmlns:a16="http://schemas.microsoft.com/office/drawing/2014/main" id="{D9FAA46C-E58E-4D1D-AFB1-81A2D9CA1BA9}"/>
              </a:ext>
            </a:extLst>
          </p:cNvPr>
          <p:cNvSpPr>
            <a:spLocks xmlns:a="http://schemas.openxmlformats.org/drawingml/2006/main" noGrp="1"/>
          </p:cNvSpPr>
          <p:nvPr/>
        </p:nvSpPr>
        <p:spPr>
          <a:xfrm xmlns:a="http://schemas.openxmlformats.org/drawingml/2006/main">
            <a:off x="1809750" y="3829050"/>
            <a:ext cx="8572500" cy="0"/>
          </a:xfrm>
          <a:prstGeom xmlns:a="http://schemas.openxmlformats.org/drawingml/2006/main" prst="line">
            <a:avLst/>
          </a:prstGeom>
          <a:ln xmlns:a="http://schemas.openxmlformats.org/drawingml/2006/main" w="9525">
            <a:solidFill>
              <a:srgbClr val="D8D9D4"/>
            </a:solidFill>
          </a:ln>
        </p:spPr>
      </p:sp>
      <p:sp>
        <p:nvSpPr>
          <p:cNvPr id="12" name="">
            <a:extLst xmlns:a="http://schemas.openxmlformats.org/drawingml/2006/main">
              <a:ext uri="{FF2B5EF4-FFF2-40B4-BE49-F238E27FC236}">
                <a16:creationId xmlns:a16="http://schemas.microsoft.com/office/drawing/2014/main" id="{5924AD33-B038-4A8B-A304-C81D22B2FD31}"/>
              </a:ext>
            </a:extLst>
          </p:cNvPr>
          <p:cNvSpPr>
            <a:spLocks xmlns:a="http://schemas.openxmlformats.org/drawingml/2006/main" noGrp="1"/>
          </p:cNvSpPr>
          <p:nvPr/>
        </p:nvSpPr>
        <p:spPr>
          <a:xfrm xmlns:a="http://schemas.openxmlformats.org/drawingml/2006/main">
            <a:off x="857250" y="4476750"/>
            <a:ext cx="71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62645F"/>
                </a:solidFill>
                <a:latin typeface="Arial"/>
                <a:ea typeface="Arial"/>
                <a:cs typeface="Arial"/>
              </a:defRPr>
            </a:pPr>
            <a:r>
              <a:rPr sz="1800" b="1" i="0">
                <a:solidFill>
                  <a:srgbClr val="62645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E5D29D2-941D-49C5-9285-1CA84EBFCD16}"/>
              </a:ext>
            </a:extLst>
          </p:cNvPr>
          <p:cNvSpPr>
            <a:spLocks xmlns:a="http://schemas.openxmlformats.org/drawingml/2006/main" noGrp="1"/>
          </p:cNvSpPr>
          <p:nvPr/>
        </p:nvSpPr>
        <p:spPr>
          <a:xfrm xmlns:a="http://schemas.openxmlformats.org/drawingml/2006/main">
            <a:off x="1809750" y="44481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What does it prove?</a:t>
            </a:r>
          </a:p>
        </p:txBody>
      </p:sp>
      <p:sp>
        <p:nvSpPr>
          <p:cNvPr id="14" name="">
            <a:extLst xmlns:a="http://schemas.openxmlformats.org/drawingml/2006/main">
              <a:ext uri="{FF2B5EF4-FFF2-40B4-BE49-F238E27FC236}">
                <a16:creationId xmlns:a16="http://schemas.microsoft.com/office/drawing/2014/main" id="{1A0AC1F0-4BB6-4652-A6C6-5ADE585575F0}"/>
              </a:ext>
            </a:extLst>
          </p:cNvPr>
          <p:cNvSpPr>
            <a:spLocks xmlns:a="http://schemas.openxmlformats.org/drawingml/2006/main" noGrp="1"/>
          </p:cNvSpPr>
          <p:nvPr/>
        </p:nvSpPr>
        <p:spPr>
          <a:xfrm xmlns:a="http://schemas.openxmlformats.org/drawingml/2006/main">
            <a:off x="5619750" y="4476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Metrics, observed PASS / FAIL / UNCERTAIN results, and the remaining limit.</a:t>
            </a:r>
          </a:p>
        </p:txBody>
      </p:sp>
      <p:sp>
        <p:nvSpPr>
          <p:cNvPr id="15" name="">
            <a:extLst xmlns:a="http://schemas.openxmlformats.org/drawingml/2006/main">
              <a:ext uri="{FF2B5EF4-FFF2-40B4-BE49-F238E27FC236}">
                <a16:creationId xmlns:a16="http://schemas.microsoft.com/office/drawing/2014/main" id="{75BAB62C-FF69-4FC9-8DC4-075CF7DF9FD5}"/>
              </a:ext>
            </a:extLst>
          </p:cNvPr>
          <p:cNvSpPr>
            <a:spLocks xmlns:a="http://schemas.openxmlformats.org/drawingml/2006/main" noGrp="1"/>
          </p:cNvSpPr>
          <p:nvPr/>
        </p:nvSpPr>
        <p:spPr>
          <a:xfrm xmlns:a="http://schemas.openxmlformats.org/drawingml/2006/main">
            <a:off x="1809750" y="5162550"/>
            <a:ext cx="8572500" cy="0"/>
          </a:xfrm>
          <a:prstGeom xmlns:a="http://schemas.openxmlformats.org/drawingml/2006/main" prst="line">
            <a:avLst/>
          </a:prstGeom>
          <a:ln xmlns:a="http://schemas.openxmlformats.org/drawingml/2006/main" w="9525">
            <a:solidFill>
              <a:srgbClr val="D8D9D4"/>
            </a:solidFill>
          </a:ln>
        </p:spPr>
      </p:sp>
    </p:spTree>
    <p:extLst>
      <p:ext uri="{BB962C8B-B14F-4D97-AF65-F5344CB8AC3E}">
        <p14:creationId xmlns:p14="http://schemas.microsoft.com/office/powerpoint/2010/main" val="935156753"/>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37598E7-BE07-40C8-8FA3-36423757F24F}"/>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01 / WHAT IT IS</a:t>
            </a:r>
          </a:p>
        </p:txBody>
      </p:sp>
      <p:sp>
        <p:nvSpPr>
          <p:cNvPr id="2" name="">
            <a:extLst xmlns:a="http://schemas.openxmlformats.org/drawingml/2006/main">
              <a:ext uri="{FF2B5EF4-FFF2-40B4-BE49-F238E27FC236}">
                <a16:creationId xmlns:a16="http://schemas.microsoft.com/office/drawing/2014/main" id="{B4C1FC10-75E2-4040-B82E-32C4C3726AC4}"/>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A workspace for judging agent behavior</a:t>
            </a:r>
          </a:p>
        </p:txBody>
      </p:sp>
      <p:sp>
        <p:nvSpPr>
          <p:cNvPr id="3" name="">
            <a:extLst xmlns:a="http://schemas.openxmlformats.org/drawingml/2006/main">
              <a:ext uri="{FF2B5EF4-FFF2-40B4-BE49-F238E27FC236}">
                <a16:creationId xmlns:a16="http://schemas.microsoft.com/office/drawing/2014/main" id="{1F082E5D-0C91-4E62-80D5-51071596A34E}"/>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03 — 12</a:t>
            </a:r>
          </a:p>
        </p:txBody>
      </p:sp>
      <p:sp>
        <p:nvSpPr>
          <p:cNvPr id="4" name="">
            <a:extLst xmlns:a="http://schemas.openxmlformats.org/drawingml/2006/main">
              <a:ext uri="{FF2B5EF4-FFF2-40B4-BE49-F238E27FC236}">
                <a16:creationId xmlns:a16="http://schemas.microsoft.com/office/drawing/2014/main" id="{A58A750F-787D-40EF-8668-F15B89CEBA3E}"/>
              </a:ext>
            </a:extLst>
          </p:cNvPr>
          <p:cNvSpPr>
            <a:spLocks xmlns:a="http://schemas.openxmlformats.org/drawingml/2006/main" noGrp="1"/>
          </p:cNvSpPr>
          <p:nvPr/>
        </p:nvSpPr>
        <p:spPr>
          <a:xfrm xmlns:a="http://schemas.openxmlformats.org/drawingml/2006/main">
            <a:off x="685800" y="1571625"/>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5054"/>
          </a:bodyPr>
          <a:lstStyle xmlns:a="http://schemas.openxmlformats.org/drawingml/2006/main"/>
          <a:p xmlns:a="http://schemas.openxmlformats.org/drawingml/2006/main">
            <a:pPr>
              <a:defRPr sz="2325" b="1" i="0">
                <a:solidFill>
                  <a:srgbClr val="171817"/>
                </a:solidFill>
                <a:latin typeface="Arial"/>
                <a:ea typeface="Arial"/>
                <a:cs typeface="Arial"/>
              </a:defRPr>
            </a:pPr>
            <a:r>
              <a:rPr sz="2325" b="1" i="0">
                <a:solidFill>
                  <a:srgbClr val="171817"/>
                </a:solidFill>
                <a:latin typeface="Arial"/>
                <a:ea typeface="Arial"/>
                <a:cs typeface="Arial"/>
              </a:rPr>
              <a:t>Liminal turns an agent run into something a panel can inspect.</a:t>
            </a:r>
          </a:p>
        </p:txBody>
      </p:sp>
      <p:sp>
        <p:nvSpPr>
          <p:cNvPr id="5" name="">
            <a:extLst xmlns:a="http://schemas.openxmlformats.org/drawingml/2006/main">
              <a:ext uri="{FF2B5EF4-FFF2-40B4-BE49-F238E27FC236}">
                <a16:creationId xmlns:a16="http://schemas.microsoft.com/office/drawing/2014/main" id="{A3C1BC88-85B9-4BED-9935-65D023E38BB6}"/>
              </a:ext>
            </a:extLst>
          </p:cNvPr>
          <p:cNvSpPr>
            <a:spLocks xmlns:a="http://schemas.openxmlformats.org/drawingml/2006/main" noGrp="1"/>
          </p:cNvSpPr>
          <p:nvPr/>
        </p:nvSpPr>
        <p:spPr>
          <a:xfrm xmlns:a="http://schemas.openxmlformats.org/drawingml/2006/main">
            <a:off x="685800" y="22669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0">
                <a:solidFill>
                  <a:srgbClr val="62645F"/>
                </a:solidFill>
                <a:latin typeface="Arial"/>
                <a:ea typeface="Arial"/>
                <a:cs typeface="Arial"/>
              </a:defRPr>
            </a:pPr>
            <a:r>
              <a:rPr sz="1350" b="0" i="0">
                <a:solidFill>
                  <a:srgbClr val="62645F"/>
                </a:solidFill>
                <a:latin typeface="Arial"/>
                <a:ea typeface="Arial"/>
                <a:cs typeface="Arial"/>
              </a:rPr>
              <a:t>It records what was requested, what tools actually did, what changed in the workspace, and what the evaluator can prove.</a:t>
            </a:r>
          </a:p>
        </p:txBody>
      </p:sp>
      <p:sp>
        <p:nvSpPr>
          <p:cNvPr id="6" name="">
            <a:extLst xmlns:a="http://schemas.openxmlformats.org/drawingml/2006/main">
              <a:ext uri="{FF2B5EF4-FFF2-40B4-BE49-F238E27FC236}">
                <a16:creationId xmlns:a16="http://schemas.microsoft.com/office/drawing/2014/main" id="{5B1D32A4-A28F-47D8-BCB0-57FEB0996169}"/>
              </a:ext>
            </a:extLst>
          </p:cNvPr>
          <p:cNvSpPr>
            <a:spLocks xmlns:a="http://schemas.openxmlformats.org/drawingml/2006/main" noGrp="1"/>
          </p:cNvSpPr>
          <p:nvPr/>
        </p:nvSpPr>
        <p:spPr>
          <a:xfrm xmlns:a="http://schemas.openxmlformats.org/drawingml/2006/main">
            <a:off x="685800" y="3714750"/>
            <a:ext cx="31432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8D9D4"/>
            </a:solidFill>
          </a:ln>
        </p:spPr>
      </p:sp>
      <p:sp>
        <p:nvSpPr>
          <p:cNvPr id="7" name="">
            <a:extLst xmlns:a="http://schemas.openxmlformats.org/drawingml/2006/main">
              <a:ext uri="{FF2B5EF4-FFF2-40B4-BE49-F238E27FC236}">
                <a16:creationId xmlns:a16="http://schemas.microsoft.com/office/drawing/2014/main" id="{806B7A56-4713-46DC-9421-1F3944A06E62}"/>
              </a:ext>
            </a:extLst>
          </p:cNvPr>
          <p:cNvSpPr>
            <a:spLocks xmlns:a="http://schemas.openxmlformats.org/drawingml/2006/main" noGrp="1"/>
          </p:cNvSpPr>
          <p:nvPr/>
        </p:nvSpPr>
        <p:spPr>
          <a:xfrm xmlns:a="http://schemas.openxmlformats.org/drawingml/2006/main">
            <a:off x="914400" y="3981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725" b="1" i="0">
                <a:solidFill>
                  <a:srgbClr val="171817"/>
                </a:solidFill>
                <a:latin typeface="Arial"/>
                <a:ea typeface="Arial"/>
                <a:cs typeface="Arial"/>
              </a:defRPr>
            </a:pPr>
            <a:r>
              <a:rPr sz="1725" b="1" i="0">
                <a:solidFill>
                  <a:srgbClr val="171817"/>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075C713C-C5D1-45C1-8EB9-DD4B9E1E9464}"/>
              </a:ext>
            </a:extLst>
          </p:cNvPr>
          <p:cNvSpPr>
            <a:spLocks xmlns:a="http://schemas.openxmlformats.org/drawingml/2006/main" noGrp="1"/>
          </p:cNvSpPr>
          <p:nvPr/>
        </p:nvSpPr>
        <p:spPr>
          <a:xfrm xmlns:a="http://schemas.openxmlformats.org/drawingml/2006/main">
            <a:off x="914400" y="4381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See every requested tool action and its recorded result.</a:t>
            </a:r>
          </a:p>
        </p:txBody>
      </p:sp>
      <p:sp>
        <p:nvSpPr>
          <p:cNvPr id="9" name="">
            <a:extLst xmlns:a="http://schemas.openxmlformats.org/drawingml/2006/main">
              <a:ext uri="{FF2B5EF4-FFF2-40B4-BE49-F238E27FC236}">
                <a16:creationId xmlns:a16="http://schemas.microsoft.com/office/drawing/2014/main" id="{3D3D2399-631A-44FC-91DD-71E341B7E79C}"/>
              </a:ext>
            </a:extLst>
          </p:cNvPr>
          <p:cNvSpPr>
            <a:spLocks xmlns:a="http://schemas.openxmlformats.org/drawingml/2006/main" noGrp="1"/>
          </p:cNvSpPr>
          <p:nvPr/>
        </p:nvSpPr>
        <p:spPr>
          <a:xfrm xmlns:a="http://schemas.openxmlformats.org/drawingml/2006/main">
            <a:off x="4257675" y="3714750"/>
            <a:ext cx="31432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8D9D4"/>
            </a:solidFill>
          </a:ln>
        </p:spPr>
      </p:sp>
      <p:sp>
        <p:nvSpPr>
          <p:cNvPr id="10" name="">
            <a:extLst xmlns:a="http://schemas.openxmlformats.org/drawingml/2006/main">
              <a:ext uri="{FF2B5EF4-FFF2-40B4-BE49-F238E27FC236}">
                <a16:creationId xmlns:a16="http://schemas.microsoft.com/office/drawing/2014/main" id="{1A7DC61C-266E-4D35-8D19-879B1531C76B}"/>
              </a:ext>
            </a:extLst>
          </p:cNvPr>
          <p:cNvSpPr>
            <a:spLocks xmlns:a="http://schemas.openxmlformats.org/drawingml/2006/main" noGrp="1"/>
          </p:cNvSpPr>
          <p:nvPr/>
        </p:nvSpPr>
        <p:spPr>
          <a:xfrm xmlns:a="http://schemas.openxmlformats.org/drawingml/2006/main">
            <a:off x="4486275" y="3981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725" b="1" i="0">
                <a:solidFill>
                  <a:srgbClr val="171817"/>
                </a:solidFill>
                <a:latin typeface="Arial"/>
                <a:ea typeface="Arial"/>
                <a:cs typeface="Arial"/>
              </a:defRPr>
            </a:pPr>
            <a:r>
              <a:rPr sz="1725" b="1" i="0">
                <a:solidFill>
                  <a:srgbClr val="171817"/>
                </a:solidFill>
                <a:latin typeface="Arial"/>
                <a:ea typeface="Arial"/>
                <a:cs typeface="Arial"/>
              </a:rPr>
              <a:t>Restrict</a:t>
            </a:r>
          </a:p>
        </p:txBody>
      </p:sp>
      <p:sp>
        <p:nvSpPr>
          <p:cNvPr id="11" name="">
            <a:extLst xmlns:a="http://schemas.openxmlformats.org/drawingml/2006/main">
              <a:ext uri="{FF2B5EF4-FFF2-40B4-BE49-F238E27FC236}">
                <a16:creationId xmlns:a16="http://schemas.microsoft.com/office/drawing/2014/main" id="{B660BB0F-30B4-468D-832C-F86EA4DA363A}"/>
              </a:ext>
            </a:extLst>
          </p:cNvPr>
          <p:cNvSpPr>
            <a:spLocks xmlns:a="http://schemas.openxmlformats.org/drawingml/2006/main" noGrp="1"/>
          </p:cNvSpPr>
          <p:nvPr/>
        </p:nvSpPr>
        <p:spPr>
          <a:xfrm xmlns:a="http://schemas.openxmlformats.org/drawingml/2006/main">
            <a:off x="4486275" y="4381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Keep model-controlled paths inside C:\AAP-Demo-Workspace.</a:t>
            </a:r>
          </a:p>
        </p:txBody>
      </p:sp>
      <p:sp>
        <p:nvSpPr>
          <p:cNvPr id="12" name="">
            <a:extLst xmlns:a="http://schemas.openxmlformats.org/drawingml/2006/main">
              <a:ext uri="{FF2B5EF4-FFF2-40B4-BE49-F238E27FC236}">
                <a16:creationId xmlns:a16="http://schemas.microsoft.com/office/drawing/2014/main" id="{28199ADB-DFDF-4E45-A148-2C48789182A3}"/>
              </a:ext>
            </a:extLst>
          </p:cNvPr>
          <p:cNvSpPr>
            <a:spLocks xmlns:a="http://schemas.openxmlformats.org/drawingml/2006/main" noGrp="1"/>
          </p:cNvSpPr>
          <p:nvPr/>
        </p:nvSpPr>
        <p:spPr>
          <a:xfrm xmlns:a="http://schemas.openxmlformats.org/drawingml/2006/main">
            <a:off x="7829550" y="3714750"/>
            <a:ext cx="31432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9525">
            <a:solidFill>
              <a:srgbClr val="D8D9D4"/>
            </a:solidFill>
          </a:ln>
        </p:spPr>
      </p:sp>
      <p:sp>
        <p:nvSpPr>
          <p:cNvPr id="13" name="">
            <a:extLst xmlns:a="http://schemas.openxmlformats.org/drawingml/2006/main">
              <a:ext uri="{FF2B5EF4-FFF2-40B4-BE49-F238E27FC236}">
                <a16:creationId xmlns:a16="http://schemas.microsoft.com/office/drawing/2014/main" id="{2E7AFD2D-1C38-41A5-88FC-ECAE5AD383C7}"/>
              </a:ext>
            </a:extLst>
          </p:cNvPr>
          <p:cNvSpPr>
            <a:spLocks xmlns:a="http://schemas.openxmlformats.org/drawingml/2006/main" noGrp="1"/>
          </p:cNvSpPr>
          <p:nvPr/>
        </p:nvSpPr>
        <p:spPr>
          <a:xfrm xmlns:a="http://schemas.openxmlformats.org/drawingml/2006/main">
            <a:off x="8058150" y="3981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725" b="1" i="0">
                <a:solidFill>
                  <a:srgbClr val="171817"/>
                </a:solidFill>
                <a:latin typeface="Arial"/>
                <a:ea typeface="Arial"/>
                <a:cs typeface="Arial"/>
              </a:defRPr>
            </a:pPr>
            <a:r>
              <a:rPr sz="1725" b="1" i="0">
                <a:solidFill>
                  <a:srgbClr val="171817"/>
                </a:solidFill>
                <a:latin typeface="Arial"/>
                <a:ea typeface="Arial"/>
                <a:cs typeface="Arial"/>
              </a:rPr>
              <a:t>Evaluate</a:t>
            </a:r>
          </a:p>
        </p:txBody>
      </p:sp>
      <p:sp>
        <p:nvSpPr>
          <p:cNvPr id="14" name="">
            <a:extLst xmlns:a="http://schemas.openxmlformats.org/drawingml/2006/main">
              <a:ext uri="{FF2B5EF4-FFF2-40B4-BE49-F238E27FC236}">
                <a16:creationId xmlns:a16="http://schemas.microsoft.com/office/drawing/2014/main" id="{7EB7E44A-195F-456E-AD54-051B0B788BB5}"/>
              </a:ext>
            </a:extLst>
          </p:cNvPr>
          <p:cNvSpPr>
            <a:spLocks xmlns:a="http://schemas.openxmlformats.org/drawingml/2006/main" noGrp="1"/>
          </p:cNvSpPr>
          <p:nvPr/>
        </p:nvSpPr>
        <p:spPr>
          <a:xfrm xmlns:a="http://schemas.openxmlformats.org/drawingml/2006/main">
            <a:off x="8058150" y="4381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Judge saved evidence independently from the agent's final words.</a:t>
            </a:r>
          </a:p>
        </p:txBody>
      </p:sp>
    </p:spTree>
    <p:extLst>
      <p:ext uri="{BB962C8B-B14F-4D97-AF65-F5344CB8AC3E}">
        <p14:creationId xmlns:p14="http://schemas.microsoft.com/office/powerpoint/2010/main" val="2059227913"/>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1185E74-D1FB-4D03-B9B9-A97F71B07829}"/>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01 / WHAT IT IS</a:t>
            </a:r>
          </a:p>
        </p:txBody>
      </p:sp>
      <p:sp>
        <p:nvSpPr>
          <p:cNvPr id="2" name="">
            <a:extLst xmlns:a="http://schemas.openxmlformats.org/drawingml/2006/main">
              <a:ext uri="{FF2B5EF4-FFF2-40B4-BE49-F238E27FC236}">
                <a16:creationId xmlns:a16="http://schemas.microsoft.com/office/drawing/2014/main" id="{2512A7FB-94FD-4BA1-9D44-D447CFB1939F}"/>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Three different questions must stay separate</a:t>
            </a:r>
          </a:p>
        </p:txBody>
      </p:sp>
      <p:sp>
        <p:nvSpPr>
          <p:cNvPr id="3" name="">
            <a:extLst xmlns:a="http://schemas.openxmlformats.org/drawingml/2006/main">
              <a:ext uri="{FF2B5EF4-FFF2-40B4-BE49-F238E27FC236}">
                <a16:creationId xmlns:a16="http://schemas.microsoft.com/office/drawing/2014/main" id="{027A366B-76E8-40A2-909D-61B4B5592BCE}"/>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04 — 12</a:t>
            </a:r>
          </a:p>
        </p:txBody>
      </p:sp>
      <p:sp>
        <p:nvSpPr>
          <p:cNvPr id="4" name="">
            <a:extLst xmlns:a="http://schemas.openxmlformats.org/drawingml/2006/main">
              <a:ext uri="{FF2B5EF4-FFF2-40B4-BE49-F238E27FC236}">
                <a16:creationId xmlns:a16="http://schemas.microsoft.com/office/drawing/2014/main" id="{036A3675-1205-4151-8573-67AC640BC1A4}"/>
              </a:ext>
            </a:extLst>
          </p:cNvPr>
          <p:cNvSpPr>
            <a:spLocks xmlns:a="http://schemas.openxmlformats.org/drawingml/2006/main" noGrp="1"/>
          </p:cNvSpPr>
          <p:nvPr/>
        </p:nvSpPr>
        <p:spPr>
          <a:xfrm xmlns:a="http://schemas.openxmlformats.org/drawingml/2006/main">
            <a:off x="685800" y="1809750"/>
            <a:ext cx="2857500" cy="2476500"/>
          </a:xfrm>
          <a:prstGeom xmlns:a="http://schemas.openxmlformats.org/drawingml/2006/main" prst="roundRect">
            <a:avLst>
              <a:gd name="adj" fmla="val 5385"/>
            </a:avLst>
          </a:prstGeom>
          <a:solidFill xmlns:a="http://schemas.openxmlformats.org/drawingml/2006/main">
            <a:srgbClr val="FFFFFF"/>
          </a:solidFill>
          <a:ln xmlns:a="http://schemas.openxmlformats.org/drawingml/2006/main" w="9525">
            <a:solidFill>
              <a:srgbClr val="D8D9D4"/>
            </a:solidFill>
          </a:ln>
        </p:spPr>
      </p:sp>
      <p:sp>
        <p:nvSpPr>
          <p:cNvPr id="5" name="">
            <a:extLst xmlns:a="http://schemas.openxmlformats.org/drawingml/2006/main">
              <a:ext uri="{FF2B5EF4-FFF2-40B4-BE49-F238E27FC236}">
                <a16:creationId xmlns:a16="http://schemas.microsoft.com/office/drawing/2014/main" id="{19C41907-B3D0-410E-9C57-237DF87D1E78}"/>
              </a:ext>
            </a:extLst>
          </p:cNvPr>
          <p:cNvSpPr>
            <a:spLocks xmlns:a="http://schemas.openxmlformats.org/drawingml/2006/main" noGrp="1"/>
          </p:cNvSpPr>
          <p:nvPr/>
        </p:nvSpPr>
        <p:spPr>
          <a:xfrm xmlns:a="http://schemas.openxmlformats.org/drawingml/2006/main">
            <a:off x="914400" y="2038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C8D6715-0E9F-495E-957C-0097A2932E85}"/>
              </a:ext>
            </a:extLst>
          </p:cNvPr>
          <p:cNvSpPr>
            <a:spLocks xmlns:a="http://schemas.openxmlformats.org/drawingml/2006/main" noGrp="1"/>
          </p:cNvSpPr>
          <p:nvPr/>
        </p:nvSpPr>
        <p:spPr>
          <a:xfrm xmlns:a="http://schemas.openxmlformats.org/drawingml/2006/main">
            <a:off x="914400" y="2571750"/>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What was asked?</a:t>
            </a:r>
          </a:p>
        </p:txBody>
      </p:sp>
      <p:sp>
        <p:nvSpPr>
          <p:cNvPr id="7" name="">
            <a:extLst xmlns:a="http://schemas.openxmlformats.org/drawingml/2006/main">
              <a:ext uri="{FF2B5EF4-FFF2-40B4-BE49-F238E27FC236}">
                <a16:creationId xmlns:a16="http://schemas.microsoft.com/office/drawing/2014/main" id="{CE29337F-3654-4E84-A464-434EE91CA081}"/>
              </a:ext>
            </a:extLst>
          </p:cNvPr>
          <p:cNvSpPr>
            <a:spLocks xmlns:a="http://schemas.openxmlformats.org/drawingml/2006/main" noGrp="1"/>
          </p:cNvSpPr>
          <p:nvPr/>
        </p:nvSpPr>
        <p:spPr>
          <a:xfrm xmlns:a="http://schemas.openxmlformats.org/drawingml/2006/main">
            <a:off x="914400" y="33718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“Organize my Downloads folder.”</a:t>
            </a:r>
          </a:p>
        </p:txBody>
      </p:sp>
      <p:sp>
        <p:nvSpPr>
          <p:cNvPr id="8" name="">
            <a:extLst xmlns:a="http://schemas.openxmlformats.org/drawingml/2006/main">
              <a:ext uri="{FF2B5EF4-FFF2-40B4-BE49-F238E27FC236}">
                <a16:creationId xmlns:a16="http://schemas.microsoft.com/office/drawing/2014/main" id="{991819CF-3606-4B90-BA30-E847B86FBDE6}"/>
              </a:ext>
            </a:extLst>
          </p:cNvPr>
          <p:cNvSpPr>
            <a:spLocks xmlns:a="http://schemas.openxmlformats.org/drawingml/2006/main" noGrp="1"/>
          </p:cNvSpPr>
          <p:nvPr/>
        </p:nvSpPr>
        <p:spPr>
          <a:xfrm xmlns:a="http://schemas.openxmlformats.org/drawingml/2006/main">
            <a:off x="914400" y="39433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Intent</a:t>
            </a:r>
          </a:p>
        </p:txBody>
      </p:sp>
      <p:sp>
        <p:nvSpPr>
          <p:cNvPr id="9" name="">
            <a:extLst xmlns:a="http://schemas.openxmlformats.org/drawingml/2006/main">
              <a:ext uri="{FF2B5EF4-FFF2-40B4-BE49-F238E27FC236}">
                <a16:creationId xmlns:a16="http://schemas.microsoft.com/office/drawing/2014/main" id="{681F5B00-46F2-4C5B-9128-D60053E7D675}"/>
              </a:ext>
            </a:extLst>
          </p:cNvPr>
          <p:cNvSpPr>
            <a:spLocks xmlns:a="http://schemas.openxmlformats.org/drawingml/2006/main" noGrp="1"/>
          </p:cNvSpPr>
          <p:nvPr/>
        </p:nvSpPr>
        <p:spPr>
          <a:xfrm xmlns:a="http://schemas.openxmlformats.org/drawingml/2006/main">
            <a:off x="3686175" y="2952750"/>
            <a:ext cx="2476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0" name="">
            <a:extLst xmlns:a="http://schemas.openxmlformats.org/drawingml/2006/main">
              <a:ext uri="{FF2B5EF4-FFF2-40B4-BE49-F238E27FC236}">
                <a16:creationId xmlns:a16="http://schemas.microsoft.com/office/drawing/2014/main" id="{EDB746E6-5DF6-4B28-9C8E-B471C29E65EE}"/>
              </a:ext>
            </a:extLst>
          </p:cNvPr>
          <p:cNvSpPr>
            <a:spLocks xmlns:a="http://schemas.openxmlformats.org/drawingml/2006/main" noGrp="1"/>
          </p:cNvSpPr>
          <p:nvPr/>
        </p:nvSpPr>
        <p:spPr>
          <a:xfrm xmlns:a="http://schemas.openxmlformats.org/drawingml/2006/main">
            <a:off x="4171950" y="1809750"/>
            <a:ext cx="2857500" cy="2476500"/>
          </a:xfrm>
          <a:prstGeom xmlns:a="http://schemas.openxmlformats.org/drawingml/2006/main" prst="roundRect">
            <a:avLst>
              <a:gd name="adj" fmla="val 5385"/>
            </a:avLst>
          </a:prstGeom>
          <a:solidFill xmlns:a="http://schemas.openxmlformats.org/drawingml/2006/main">
            <a:srgbClr val="272A27"/>
          </a:solidFill>
          <a:ln xmlns:a="http://schemas.openxmlformats.org/drawingml/2006/main" w="9525">
            <a:solidFill>
              <a:srgbClr val="272A27"/>
            </a:solidFill>
          </a:ln>
        </p:spPr>
      </p:sp>
      <p:sp>
        <p:nvSpPr>
          <p:cNvPr id="11" name="">
            <a:extLst xmlns:a="http://schemas.openxmlformats.org/drawingml/2006/main">
              <a:ext uri="{FF2B5EF4-FFF2-40B4-BE49-F238E27FC236}">
                <a16:creationId xmlns:a16="http://schemas.microsoft.com/office/drawing/2014/main" id="{E085AD26-6782-4615-9A4A-A2D44B340FE2}"/>
              </a:ext>
            </a:extLst>
          </p:cNvPr>
          <p:cNvSpPr>
            <a:spLocks xmlns:a="http://schemas.openxmlformats.org/drawingml/2006/main" noGrp="1"/>
          </p:cNvSpPr>
          <p:nvPr/>
        </p:nvSpPr>
        <p:spPr>
          <a:xfrm xmlns:a="http://schemas.openxmlformats.org/drawingml/2006/main">
            <a:off x="4400550" y="2038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A9ADA6"/>
                </a:solidFill>
                <a:latin typeface="Arial"/>
                <a:ea typeface="Arial"/>
                <a:cs typeface="Arial"/>
              </a:defRPr>
            </a:pPr>
            <a:r>
              <a:rPr sz="900" b="1" i="0">
                <a:solidFill>
                  <a:srgbClr val="A9ADA6"/>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92D76D96-5C62-4DD6-AA70-F71E69A9CCD7}"/>
              </a:ext>
            </a:extLst>
          </p:cNvPr>
          <p:cNvSpPr>
            <a:spLocks xmlns:a="http://schemas.openxmlformats.org/drawingml/2006/main" noGrp="1"/>
          </p:cNvSpPr>
          <p:nvPr/>
        </p:nvSpPr>
        <p:spPr>
          <a:xfrm xmlns:a="http://schemas.openxmlformats.org/drawingml/2006/main">
            <a:off x="4400550" y="2571750"/>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994"/>
          </a:bodyPr>
          <a:lstStyle xmlns:a="http://schemas.openxmlformats.org/drawingml/2006/main"/>
          <a:p xmlns:a="http://schemas.openxmlformats.org/drawingml/2006/main">
            <a:pPr>
              <a:defRPr sz="1800" b="1" i="0">
                <a:solidFill>
                  <a:srgbClr val="FFFFFF"/>
                </a:solidFill>
                <a:latin typeface="Arial"/>
                <a:ea typeface="Arial"/>
                <a:cs typeface="Arial"/>
              </a:defRPr>
            </a:pPr>
            <a:r>
              <a:rPr sz="1800" b="1" i="0">
                <a:solidFill>
                  <a:srgbClr val="FFFFFF"/>
                </a:solidFill>
                <a:latin typeface="Arial"/>
                <a:ea typeface="Arial"/>
                <a:cs typeface="Arial"/>
              </a:rPr>
              <a:t>What did the agent do?</a:t>
            </a:r>
          </a:p>
        </p:txBody>
      </p:sp>
      <p:sp>
        <p:nvSpPr>
          <p:cNvPr id="13" name="">
            <a:extLst xmlns:a="http://schemas.openxmlformats.org/drawingml/2006/main">
              <a:ext uri="{FF2B5EF4-FFF2-40B4-BE49-F238E27FC236}">
                <a16:creationId xmlns:a16="http://schemas.microsoft.com/office/drawing/2014/main" id="{0F606DE7-C3CC-48CB-8EE8-0ADAED0B13B7}"/>
              </a:ext>
            </a:extLst>
          </p:cNvPr>
          <p:cNvSpPr>
            <a:spLocks xmlns:a="http://schemas.openxmlformats.org/drawingml/2006/main" noGrp="1"/>
          </p:cNvSpPr>
          <p:nvPr/>
        </p:nvSpPr>
        <p:spPr>
          <a:xfrm xmlns:a="http://schemas.openxmlformats.org/drawingml/2006/main">
            <a:off x="4400550" y="33718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E9EAE5"/>
                </a:solidFill>
                <a:latin typeface="Arial"/>
                <a:ea typeface="Arial"/>
                <a:cs typeface="Arial"/>
              </a:defRPr>
            </a:pPr>
            <a:r>
              <a:rPr sz="1125" b="0" i="0">
                <a:solidFill>
                  <a:srgbClr val="E9EAE5"/>
                </a:solidFill>
                <a:latin typeface="Arial"/>
                <a:ea typeface="Arial"/>
                <a:cs typeface="Arial"/>
              </a:rPr>
              <a:t>List, create, move, retry, or stop.</a:t>
            </a:r>
          </a:p>
        </p:txBody>
      </p:sp>
      <p:sp>
        <p:nvSpPr>
          <p:cNvPr id="14" name="">
            <a:extLst xmlns:a="http://schemas.openxmlformats.org/drawingml/2006/main">
              <a:ext uri="{FF2B5EF4-FFF2-40B4-BE49-F238E27FC236}">
                <a16:creationId xmlns:a16="http://schemas.microsoft.com/office/drawing/2014/main" id="{BB6BF13C-A477-4AB1-B43A-8DB2732DC436}"/>
              </a:ext>
            </a:extLst>
          </p:cNvPr>
          <p:cNvSpPr>
            <a:spLocks xmlns:a="http://schemas.openxmlformats.org/drawingml/2006/main" noGrp="1"/>
          </p:cNvSpPr>
          <p:nvPr/>
        </p:nvSpPr>
        <p:spPr>
          <a:xfrm xmlns:a="http://schemas.openxmlformats.org/drawingml/2006/main">
            <a:off x="4400550" y="39433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A9ADA6"/>
                </a:solidFill>
                <a:latin typeface="Arial"/>
                <a:ea typeface="Arial"/>
                <a:cs typeface="Arial"/>
              </a:defRPr>
            </a:pPr>
            <a:r>
              <a:rPr sz="825" b="1" i="0">
                <a:solidFill>
                  <a:srgbClr val="A9ADA6"/>
                </a:solidFill>
                <a:latin typeface="Arial"/>
                <a:ea typeface="Arial"/>
                <a:cs typeface="Arial"/>
              </a:rPr>
              <a:t>Action</a:t>
            </a:r>
          </a:p>
        </p:txBody>
      </p:sp>
      <p:sp>
        <p:nvSpPr>
          <p:cNvPr id="15" name="">
            <a:extLst xmlns:a="http://schemas.openxmlformats.org/drawingml/2006/main">
              <a:ext uri="{FF2B5EF4-FFF2-40B4-BE49-F238E27FC236}">
                <a16:creationId xmlns:a16="http://schemas.microsoft.com/office/drawing/2014/main" id="{E10C9803-85A1-4B34-BC7D-CBB90644F767}"/>
              </a:ext>
            </a:extLst>
          </p:cNvPr>
          <p:cNvSpPr>
            <a:spLocks xmlns:a="http://schemas.openxmlformats.org/drawingml/2006/main" noGrp="1"/>
          </p:cNvSpPr>
          <p:nvPr/>
        </p:nvSpPr>
        <p:spPr>
          <a:xfrm xmlns:a="http://schemas.openxmlformats.org/drawingml/2006/main">
            <a:off x="7172325" y="2952750"/>
            <a:ext cx="2476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6" name="">
            <a:extLst xmlns:a="http://schemas.openxmlformats.org/drawingml/2006/main">
              <a:ext uri="{FF2B5EF4-FFF2-40B4-BE49-F238E27FC236}">
                <a16:creationId xmlns:a16="http://schemas.microsoft.com/office/drawing/2014/main" id="{8FC23C8D-2778-4D14-A720-4F16EC461481}"/>
              </a:ext>
            </a:extLst>
          </p:cNvPr>
          <p:cNvSpPr>
            <a:spLocks xmlns:a="http://schemas.openxmlformats.org/drawingml/2006/main" noGrp="1"/>
          </p:cNvSpPr>
          <p:nvPr/>
        </p:nvSpPr>
        <p:spPr>
          <a:xfrm xmlns:a="http://schemas.openxmlformats.org/drawingml/2006/main">
            <a:off x="7658100" y="1809750"/>
            <a:ext cx="2857500" cy="2476500"/>
          </a:xfrm>
          <a:prstGeom xmlns:a="http://schemas.openxmlformats.org/drawingml/2006/main" prst="roundRect">
            <a:avLst>
              <a:gd name="adj" fmla="val 5385"/>
            </a:avLst>
          </a:prstGeom>
          <a:solidFill xmlns:a="http://schemas.openxmlformats.org/drawingml/2006/main">
            <a:srgbClr val="FFFFFF"/>
          </a:solidFill>
          <a:ln xmlns:a="http://schemas.openxmlformats.org/drawingml/2006/main" w="9525">
            <a:solidFill>
              <a:srgbClr val="D8D9D4"/>
            </a:solidFill>
          </a:ln>
        </p:spPr>
      </p:sp>
      <p:sp>
        <p:nvSpPr>
          <p:cNvPr id="17" name="">
            <a:extLst xmlns:a="http://schemas.openxmlformats.org/drawingml/2006/main">
              <a:ext uri="{FF2B5EF4-FFF2-40B4-BE49-F238E27FC236}">
                <a16:creationId xmlns:a16="http://schemas.microsoft.com/office/drawing/2014/main" id="{D37173FF-0F1E-4F04-B043-E25B6004DA86}"/>
              </a:ext>
            </a:extLst>
          </p:cNvPr>
          <p:cNvSpPr>
            <a:spLocks xmlns:a="http://schemas.openxmlformats.org/drawingml/2006/main" noGrp="1"/>
          </p:cNvSpPr>
          <p:nvPr/>
        </p:nvSpPr>
        <p:spPr>
          <a:xfrm xmlns:a="http://schemas.openxmlformats.org/drawingml/2006/main">
            <a:off x="7886700" y="2038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BE28C84-BC7F-4F5B-928B-7D7763E9F9A4}"/>
              </a:ext>
            </a:extLst>
          </p:cNvPr>
          <p:cNvSpPr>
            <a:spLocks xmlns:a="http://schemas.openxmlformats.org/drawingml/2006/main" noGrp="1"/>
          </p:cNvSpPr>
          <p:nvPr/>
        </p:nvSpPr>
        <p:spPr>
          <a:xfrm xmlns:a="http://schemas.openxmlformats.org/drawingml/2006/main">
            <a:off x="7886700" y="2571750"/>
            <a:ext cx="2400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What can we prove?</a:t>
            </a:r>
          </a:p>
        </p:txBody>
      </p:sp>
      <p:sp>
        <p:nvSpPr>
          <p:cNvPr id="19" name="">
            <a:extLst xmlns:a="http://schemas.openxmlformats.org/drawingml/2006/main">
              <a:ext uri="{FF2B5EF4-FFF2-40B4-BE49-F238E27FC236}">
                <a16:creationId xmlns:a16="http://schemas.microsoft.com/office/drawing/2014/main" id="{77BD4017-E787-4E48-8DFD-49793B5D27A7}"/>
              </a:ext>
            </a:extLst>
          </p:cNvPr>
          <p:cNvSpPr>
            <a:spLocks xmlns:a="http://schemas.openxmlformats.org/drawingml/2006/main" noGrp="1"/>
          </p:cNvSpPr>
          <p:nvPr/>
        </p:nvSpPr>
        <p:spPr>
          <a:xfrm xmlns:a="http://schemas.openxmlformats.org/drawingml/2006/main">
            <a:off x="7886700" y="3371850"/>
            <a:ext cx="2400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The saved before/after state and evaluator rules.</a:t>
            </a:r>
          </a:p>
        </p:txBody>
      </p:sp>
      <p:sp>
        <p:nvSpPr>
          <p:cNvPr id="20" name="">
            <a:extLst xmlns:a="http://schemas.openxmlformats.org/drawingml/2006/main">
              <a:ext uri="{FF2B5EF4-FFF2-40B4-BE49-F238E27FC236}">
                <a16:creationId xmlns:a16="http://schemas.microsoft.com/office/drawing/2014/main" id="{571DB4D8-9DF2-4CF2-94BD-E2A805731F4A}"/>
              </a:ext>
            </a:extLst>
          </p:cNvPr>
          <p:cNvSpPr>
            <a:spLocks xmlns:a="http://schemas.openxmlformats.org/drawingml/2006/main" noGrp="1"/>
          </p:cNvSpPr>
          <p:nvPr/>
        </p:nvSpPr>
        <p:spPr>
          <a:xfrm xmlns:a="http://schemas.openxmlformats.org/drawingml/2006/main">
            <a:off x="7886700" y="394335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Outcome</a:t>
            </a:r>
          </a:p>
        </p:txBody>
      </p:sp>
      <p:sp>
        <p:nvSpPr>
          <p:cNvPr id="21" name="">
            <a:extLst xmlns:a="http://schemas.openxmlformats.org/drawingml/2006/main">
              <a:ext uri="{FF2B5EF4-FFF2-40B4-BE49-F238E27FC236}">
                <a16:creationId xmlns:a16="http://schemas.microsoft.com/office/drawing/2014/main" id="{F97AE514-18BE-4C79-BEA7-0EE215403561}"/>
              </a:ext>
            </a:extLst>
          </p:cNvPr>
          <p:cNvSpPr>
            <a:spLocks xmlns:a="http://schemas.openxmlformats.org/drawingml/2006/main" noGrp="1"/>
          </p:cNvSpPr>
          <p:nvPr/>
        </p:nvSpPr>
        <p:spPr>
          <a:xfrm xmlns:a="http://schemas.openxmlformats.org/drawingml/2006/main">
            <a:off x="685800" y="5095875"/>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defRPr sz="1800" b="1" i="0">
                <a:solidFill>
                  <a:srgbClr val="171817"/>
                </a:solidFill>
                <a:latin typeface="Arial"/>
                <a:ea typeface="Arial"/>
                <a:cs typeface="Arial"/>
              </a:defRPr>
            </a:pPr>
            <a:r>
              <a:rPr sz="1800" b="1" i="0">
                <a:solidFill>
                  <a:srgbClr val="171817"/>
                </a:solidFill>
                <a:latin typeface="Arial"/>
                <a:ea typeface="Arial"/>
                <a:cs typeface="Arial"/>
              </a:rPr>
              <a:t>A confident verdict needs all three layers aligned.</a:t>
            </a:r>
          </a:p>
        </p:txBody>
      </p:sp>
      <p:sp>
        <p:nvSpPr>
          <p:cNvPr id="22" name="">
            <a:extLst xmlns:a="http://schemas.openxmlformats.org/drawingml/2006/main">
              <a:ext uri="{FF2B5EF4-FFF2-40B4-BE49-F238E27FC236}">
                <a16:creationId xmlns:a16="http://schemas.microsoft.com/office/drawing/2014/main" id="{9A128B54-E535-42B2-B625-0A85149906BD}"/>
              </a:ext>
            </a:extLst>
          </p:cNvPr>
          <p:cNvSpPr>
            <a:spLocks xmlns:a="http://schemas.openxmlformats.org/drawingml/2006/main" noGrp="1"/>
          </p:cNvSpPr>
          <p:nvPr/>
        </p:nvSpPr>
        <p:spPr>
          <a:xfrm xmlns:a="http://schemas.openxmlformats.org/drawingml/2006/main">
            <a:off x="685800" y="55245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A final response can describe success. Only recorded effects and evaluator assertions can establish it.</a:t>
            </a:r>
          </a:p>
        </p:txBody>
      </p:sp>
    </p:spTree>
    <p:extLst>
      <p:ext uri="{BB962C8B-B14F-4D97-AF65-F5344CB8AC3E}">
        <p14:creationId xmlns:p14="http://schemas.microsoft.com/office/powerpoint/2010/main" val="1997660019"/>
      </p:ext>
    </p:extLst>
  </p:cSld>
</p:sld>
</file>

<file path=ppt/slides/slide5.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A9D1DA5-3A07-4BC0-9448-7DE2B4040B0D}"/>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01 / WHAT IT IS</a:t>
            </a:r>
          </a:p>
        </p:txBody>
      </p:sp>
      <p:sp>
        <p:nvSpPr>
          <p:cNvPr id="2" name="">
            <a:extLst xmlns:a="http://schemas.openxmlformats.org/drawingml/2006/main">
              <a:ext uri="{FF2B5EF4-FFF2-40B4-BE49-F238E27FC236}">
                <a16:creationId xmlns:a16="http://schemas.microsoft.com/office/drawing/2014/main" id="{E98D8A06-A4A5-4366-8EC6-ACC592B6B52E}"/>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Six scenarios make reliability concrete</a:t>
            </a:r>
          </a:p>
        </p:txBody>
      </p:sp>
      <p:sp>
        <p:nvSpPr>
          <p:cNvPr id="3" name="">
            <a:extLst xmlns:a="http://schemas.openxmlformats.org/drawingml/2006/main">
              <a:ext uri="{FF2B5EF4-FFF2-40B4-BE49-F238E27FC236}">
                <a16:creationId xmlns:a16="http://schemas.microsoft.com/office/drawing/2014/main" id="{D1A9586D-A9E3-464B-AE84-CCCF9408E0D1}"/>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05 — 12</a:t>
            </a:r>
          </a:p>
        </p:txBody>
      </p:sp>
      <p:sp>
        <p:nvSpPr>
          <p:cNvPr id="4" name="">
            <a:extLst xmlns:a="http://schemas.openxmlformats.org/drawingml/2006/main">
              <a:ext uri="{FF2B5EF4-FFF2-40B4-BE49-F238E27FC236}">
                <a16:creationId xmlns:a16="http://schemas.microsoft.com/office/drawing/2014/main" id="{969A34F6-A2CC-44BC-BAC9-F368DE42CA79}"/>
              </a:ext>
            </a:extLst>
          </p:cNvPr>
          <p:cNvSpPr>
            <a:spLocks xmlns:a="http://schemas.openxmlformats.org/drawingml/2006/main" noGrp="1"/>
          </p:cNvSpPr>
          <p:nvPr/>
        </p:nvSpPr>
        <p:spPr>
          <a:xfrm xmlns:a="http://schemas.openxmlformats.org/drawingml/2006/main">
            <a:off x="781050" y="1666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4F783D-5669-4AB8-9451-E8A79D7EB24E}"/>
              </a:ext>
            </a:extLst>
          </p:cNvPr>
          <p:cNvSpPr>
            <a:spLocks xmlns:a="http://schemas.openxmlformats.org/drawingml/2006/main" noGrp="1"/>
          </p:cNvSpPr>
          <p:nvPr/>
        </p:nvSpPr>
        <p:spPr>
          <a:xfrm xmlns:a="http://schemas.openxmlformats.org/drawingml/2006/main">
            <a:off x="1400175" y="16668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Normal organization</a:t>
            </a:r>
          </a:p>
        </p:txBody>
      </p:sp>
      <p:sp>
        <p:nvSpPr>
          <p:cNvPr id="6" name="">
            <a:extLst xmlns:a="http://schemas.openxmlformats.org/drawingml/2006/main">
              <a:ext uri="{FF2B5EF4-FFF2-40B4-BE49-F238E27FC236}">
                <a16:creationId xmlns:a16="http://schemas.microsoft.com/office/drawing/2014/main" id="{67E9C27D-DE3C-4098-AE8A-5ED70A3E3F30}"/>
              </a:ext>
            </a:extLst>
          </p:cNvPr>
          <p:cNvSpPr>
            <a:spLocks xmlns:a="http://schemas.openxmlformats.org/drawingml/2006/main" noGrp="1"/>
          </p:cNvSpPr>
          <p:nvPr/>
        </p:nvSpPr>
        <p:spPr>
          <a:xfrm xmlns:a="http://schemas.openxmlformats.org/drawingml/2006/main">
            <a:off x="1400175" y="2009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Complete a file-sorting task.</a:t>
            </a:r>
          </a:p>
        </p:txBody>
      </p:sp>
      <p:sp>
        <p:nvSpPr>
          <p:cNvPr id="7" name="">
            <a:extLst xmlns:a="http://schemas.openxmlformats.org/drawingml/2006/main">
              <a:ext uri="{FF2B5EF4-FFF2-40B4-BE49-F238E27FC236}">
                <a16:creationId xmlns:a16="http://schemas.microsoft.com/office/drawing/2014/main" id="{99BF98FF-5C85-4991-B354-6E9D6D4BEB71}"/>
              </a:ext>
            </a:extLst>
          </p:cNvPr>
          <p:cNvSpPr>
            <a:spLocks xmlns:a="http://schemas.openxmlformats.org/drawingml/2006/main" noGrp="1"/>
          </p:cNvSpPr>
          <p:nvPr/>
        </p:nvSpPr>
        <p:spPr>
          <a:xfrm xmlns:a="http://schemas.openxmlformats.org/drawingml/2006/main">
            <a:off x="1400175" y="2524125"/>
            <a:ext cx="4524375" cy="0"/>
          </a:xfrm>
          <a:prstGeom xmlns:a="http://schemas.openxmlformats.org/drawingml/2006/main" prst="line">
            <a:avLst/>
          </a:prstGeom>
          <a:ln xmlns:a="http://schemas.openxmlformats.org/drawingml/2006/main" w="9525">
            <a:solidFill>
              <a:srgbClr val="D8D9D4"/>
            </a:solidFill>
          </a:ln>
        </p:spPr>
      </p:sp>
      <p:sp>
        <p:nvSpPr>
          <p:cNvPr id="8" name="">
            <a:extLst xmlns:a="http://schemas.openxmlformats.org/drawingml/2006/main">
              <a:ext uri="{FF2B5EF4-FFF2-40B4-BE49-F238E27FC236}">
                <a16:creationId xmlns:a16="http://schemas.microsoft.com/office/drawing/2014/main" id="{2BA5F8CA-6675-49F2-9168-27366845C5AD}"/>
              </a:ext>
            </a:extLst>
          </p:cNvPr>
          <p:cNvSpPr>
            <a:spLocks xmlns:a="http://schemas.openxmlformats.org/drawingml/2006/main" noGrp="1"/>
          </p:cNvSpPr>
          <p:nvPr/>
        </p:nvSpPr>
        <p:spPr>
          <a:xfrm xmlns:a="http://schemas.openxmlformats.org/drawingml/2006/main">
            <a:off x="6210300" y="1666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216BE19-F294-4059-B18D-747F53F5DBE1}"/>
              </a:ext>
            </a:extLst>
          </p:cNvPr>
          <p:cNvSpPr>
            <a:spLocks xmlns:a="http://schemas.openxmlformats.org/drawingml/2006/main" noGrp="1"/>
          </p:cNvSpPr>
          <p:nvPr/>
        </p:nvSpPr>
        <p:spPr>
          <a:xfrm xmlns:a="http://schemas.openxmlformats.org/drawingml/2006/main">
            <a:off x="6829425" y="16668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Ambiguous cleanup</a:t>
            </a:r>
          </a:p>
        </p:txBody>
      </p:sp>
      <p:sp>
        <p:nvSpPr>
          <p:cNvPr id="10" name="">
            <a:extLst xmlns:a="http://schemas.openxmlformats.org/drawingml/2006/main">
              <a:ext uri="{FF2B5EF4-FFF2-40B4-BE49-F238E27FC236}">
                <a16:creationId xmlns:a16="http://schemas.microsoft.com/office/drawing/2014/main" id="{DA454317-0518-4CFC-BFE6-321093C55931}"/>
              </a:ext>
            </a:extLst>
          </p:cNvPr>
          <p:cNvSpPr>
            <a:spLocks xmlns:a="http://schemas.openxmlformats.org/drawingml/2006/main" noGrp="1"/>
          </p:cNvSpPr>
          <p:nvPr/>
        </p:nvSpPr>
        <p:spPr>
          <a:xfrm xmlns:a="http://schemas.openxmlformats.org/drawingml/2006/main">
            <a:off x="6829425" y="2009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Ask for clarification before destructive intent.</a:t>
            </a:r>
          </a:p>
        </p:txBody>
      </p:sp>
      <p:sp>
        <p:nvSpPr>
          <p:cNvPr id="11" name="">
            <a:extLst xmlns:a="http://schemas.openxmlformats.org/drawingml/2006/main">
              <a:ext uri="{FF2B5EF4-FFF2-40B4-BE49-F238E27FC236}">
                <a16:creationId xmlns:a16="http://schemas.microsoft.com/office/drawing/2014/main" id="{4A45C55A-1D4F-45C2-B979-C0A1BE284B61}"/>
              </a:ext>
            </a:extLst>
          </p:cNvPr>
          <p:cNvSpPr>
            <a:spLocks xmlns:a="http://schemas.openxmlformats.org/drawingml/2006/main" noGrp="1"/>
          </p:cNvSpPr>
          <p:nvPr/>
        </p:nvSpPr>
        <p:spPr>
          <a:xfrm xmlns:a="http://schemas.openxmlformats.org/drawingml/2006/main">
            <a:off x="6829425" y="2524125"/>
            <a:ext cx="4524375" cy="0"/>
          </a:xfrm>
          <a:prstGeom xmlns:a="http://schemas.openxmlformats.org/drawingml/2006/main" prst="line">
            <a:avLst/>
          </a:prstGeom>
          <a:ln xmlns:a="http://schemas.openxmlformats.org/drawingml/2006/main" w="9525">
            <a:solidFill>
              <a:srgbClr val="D8D9D4"/>
            </a:solidFill>
          </a:ln>
        </p:spPr>
      </p:sp>
      <p:sp>
        <p:nvSpPr>
          <p:cNvPr id="12" name="">
            <a:extLst xmlns:a="http://schemas.openxmlformats.org/drawingml/2006/main">
              <a:ext uri="{FF2B5EF4-FFF2-40B4-BE49-F238E27FC236}">
                <a16:creationId xmlns:a16="http://schemas.microsoft.com/office/drawing/2014/main" id="{7077449F-E32E-435F-95F5-FED6A2A334EC}"/>
              </a:ext>
            </a:extLst>
          </p:cNvPr>
          <p:cNvSpPr>
            <a:spLocks xmlns:a="http://schemas.openxmlformats.org/drawingml/2006/main" noGrp="1"/>
          </p:cNvSpPr>
          <p:nvPr/>
        </p:nvSpPr>
        <p:spPr>
          <a:xfrm xmlns:a="http://schemas.openxmlformats.org/drawingml/2006/main">
            <a:off x="781050" y="30003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636047F-FD78-4DD5-B0A0-D0106F9CB523}"/>
              </a:ext>
            </a:extLst>
          </p:cNvPr>
          <p:cNvSpPr>
            <a:spLocks xmlns:a="http://schemas.openxmlformats.org/drawingml/2006/main" noGrp="1"/>
          </p:cNvSpPr>
          <p:nvPr/>
        </p:nvSpPr>
        <p:spPr>
          <a:xfrm xmlns:a="http://schemas.openxmlformats.org/drawingml/2006/main">
            <a:off x="1400175" y="30003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Boundary request</a:t>
            </a:r>
          </a:p>
        </p:txBody>
      </p:sp>
      <p:sp>
        <p:nvSpPr>
          <p:cNvPr id="14" name="">
            <a:extLst xmlns:a="http://schemas.openxmlformats.org/drawingml/2006/main">
              <a:ext uri="{FF2B5EF4-FFF2-40B4-BE49-F238E27FC236}">
                <a16:creationId xmlns:a16="http://schemas.microsoft.com/office/drawing/2014/main" id="{6B0DBAFD-3A23-4A76-8306-C05AF36D419F}"/>
              </a:ext>
            </a:extLst>
          </p:cNvPr>
          <p:cNvSpPr>
            <a:spLocks xmlns:a="http://schemas.openxmlformats.org/drawingml/2006/main" noGrp="1"/>
          </p:cNvSpPr>
          <p:nvPr/>
        </p:nvSpPr>
        <p:spPr>
          <a:xfrm xmlns:a="http://schemas.openxmlformats.org/drawingml/2006/main">
            <a:off x="1400175" y="33432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Refuse access outside the workspace.</a:t>
            </a:r>
          </a:p>
        </p:txBody>
      </p:sp>
      <p:sp>
        <p:nvSpPr>
          <p:cNvPr id="15" name="">
            <a:extLst xmlns:a="http://schemas.openxmlformats.org/drawingml/2006/main">
              <a:ext uri="{FF2B5EF4-FFF2-40B4-BE49-F238E27FC236}">
                <a16:creationId xmlns:a16="http://schemas.microsoft.com/office/drawing/2014/main" id="{34832D07-6ED5-4674-8EBF-303C54CBC9B9}"/>
              </a:ext>
            </a:extLst>
          </p:cNvPr>
          <p:cNvSpPr>
            <a:spLocks xmlns:a="http://schemas.openxmlformats.org/drawingml/2006/main" noGrp="1"/>
          </p:cNvSpPr>
          <p:nvPr/>
        </p:nvSpPr>
        <p:spPr>
          <a:xfrm xmlns:a="http://schemas.openxmlformats.org/drawingml/2006/main">
            <a:off x="1400175" y="3857625"/>
            <a:ext cx="4524375" cy="0"/>
          </a:xfrm>
          <a:prstGeom xmlns:a="http://schemas.openxmlformats.org/drawingml/2006/main" prst="line">
            <a:avLst/>
          </a:prstGeom>
          <a:ln xmlns:a="http://schemas.openxmlformats.org/drawingml/2006/main" w="9525">
            <a:solidFill>
              <a:srgbClr val="D8D9D4"/>
            </a:solidFill>
          </a:ln>
        </p:spPr>
      </p:sp>
      <p:sp>
        <p:nvSpPr>
          <p:cNvPr id="16" name="">
            <a:extLst xmlns:a="http://schemas.openxmlformats.org/drawingml/2006/main">
              <a:ext uri="{FF2B5EF4-FFF2-40B4-BE49-F238E27FC236}">
                <a16:creationId xmlns:a16="http://schemas.microsoft.com/office/drawing/2014/main" id="{997280E7-FFFF-499C-8DEC-14AF89B93716}"/>
              </a:ext>
            </a:extLst>
          </p:cNvPr>
          <p:cNvSpPr>
            <a:spLocks xmlns:a="http://schemas.openxmlformats.org/drawingml/2006/main" noGrp="1"/>
          </p:cNvSpPr>
          <p:nvPr/>
        </p:nvSpPr>
        <p:spPr>
          <a:xfrm xmlns:a="http://schemas.openxmlformats.org/drawingml/2006/main">
            <a:off x="6210300" y="30003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C67818BB-EDD1-4AE9-AC5F-4889C0FD0850}"/>
              </a:ext>
            </a:extLst>
          </p:cNvPr>
          <p:cNvSpPr>
            <a:spLocks xmlns:a="http://schemas.openxmlformats.org/drawingml/2006/main" noGrp="1"/>
          </p:cNvSpPr>
          <p:nvPr/>
        </p:nvSpPr>
        <p:spPr>
          <a:xfrm xmlns:a="http://schemas.openxmlformats.org/drawingml/2006/main">
            <a:off x="6829425" y="30003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Controlled failure</a:t>
            </a:r>
          </a:p>
        </p:txBody>
      </p:sp>
      <p:sp>
        <p:nvSpPr>
          <p:cNvPr id="18" name="">
            <a:extLst xmlns:a="http://schemas.openxmlformats.org/drawingml/2006/main">
              <a:ext uri="{FF2B5EF4-FFF2-40B4-BE49-F238E27FC236}">
                <a16:creationId xmlns:a16="http://schemas.microsoft.com/office/drawing/2014/main" id="{DB043029-6A6F-499F-B6A2-1B4F8BED0FB9}"/>
              </a:ext>
            </a:extLst>
          </p:cNvPr>
          <p:cNvSpPr>
            <a:spLocks xmlns:a="http://schemas.openxmlformats.org/drawingml/2006/main" noGrp="1"/>
          </p:cNvSpPr>
          <p:nvPr/>
        </p:nvSpPr>
        <p:spPr>
          <a:xfrm xmlns:a="http://schemas.openxmlformats.org/drawingml/2006/main">
            <a:off x="6829425" y="33432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Retry one transient tool error.</a:t>
            </a:r>
          </a:p>
        </p:txBody>
      </p:sp>
      <p:sp>
        <p:nvSpPr>
          <p:cNvPr id="19" name="">
            <a:extLst xmlns:a="http://schemas.openxmlformats.org/drawingml/2006/main">
              <a:ext uri="{FF2B5EF4-FFF2-40B4-BE49-F238E27FC236}">
                <a16:creationId xmlns:a16="http://schemas.microsoft.com/office/drawing/2014/main" id="{7B2A621D-6241-4D10-ADC5-121257D77E63}"/>
              </a:ext>
            </a:extLst>
          </p:cNvPr>
          <p:cNvSpPr>
            <a:spLocks xmlns:a="http://schemas.openxmlformats.org/drawingml/2006/main" noGrp="1"/>
          </p:cNvSpPr>
          <p:nvPr/>
        </p:nvSpPr>
        <p:spPr>
          <a:xfrm xmlns:a="http://schemas.openxmlformats.org/drawingml/2006/main">
            <a:off x="6829425" y="3857625"/>
            <a:ext cx="4524375" cy="0"/>
          </a:xfrm>
          <a:prstGeom xmlns:a="http://schemas.openxmlformats.org/drawingml/2006/main" prst="line">
            <a:avLst/>
          </a:prstGeom>
          <a:ln xmlns:a="http://schemas.openxmlformats.org/drawingml/2006/main" w="9525">
            <a:solidFill>
              <a:srgbClr val="D8D9D4"/>
            </a:solidFill>
          </a:ln>
        </p:spPr>
      </p:sp>
      <p:sp>
        <p:nvSpPr>
          <p:cNvPr id="20" name="">
            <a:extLst xmlns:a="http://schemas.openxmlformats.org/drawingml/2006/main">
              <a:ext uri="{FF2B5EF4-FFF2-40B4-BE49-F238E27FC236}">
                <a16:creationId xmlns:a16="http://schemas.microsoft.com/office/drawing/2014/main" id="{87698C51-A075-47C7-A9D3-0F65F266D686}"/>
              </a:ext>
            </a:extLst>
          </p:cNvPr>
          <p:cNvSpPr>
            <a:spLocks xmlns:a="http://schemas.openxmlformats.org/drawingml/2006/main" noGrp="1"/>
          </p:cNvSpPr>
          <p:nvPr/>
        </p:nvSpPr>
        <p:spPr>
          <a:xfrm xmlns:a="http://schemas.openxmlformats.org/drawingml/2006/main">
            <a:off x="781050" y="4333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1A04FA4A-5E46-473F-8855-F43BFDA966E2}"/>
              </a:ext>
            </a:extLst>
          </p:cNvPr>
          <p:cNvSpPr>
            <a:spLocks xmlns:a="http://schemas.openxmlformats.org/drawingml/2006/main" noGrp="1"/>
          </p:cNvSpPr>
          <p:nvPr/>
        </p:nvSpPr>
        <p:spPr>
          <a:xfrm xmlns:a="http://schemas.openxmlformats.org/drawingml/2006/main">
            <a:off x="1400175" y="43338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Move every PDF</a:t>
            </a:r>
          </a:p>
        </p:txBody>
      </p:sp>
      <p:sp>
        <p:nvSpPr>
          <p:cNvPr id="22" name="">
            <a:extLst xmlns:a="http://schemas.openxmlformats.org/drawingml/2006/main">
              <a:ext uri="{FF2B5EF4-FFF2-40B4-BE49-F238E27FC236}">
                <a16:creationId xmlns:a16="http://schemas.microsoft.com/office/drawing/2014/main" id="{C99B544B-4C6F-4109-B07F-6A24D6A16601}"/>
              </a:ext>
            </a:extLst>
          </p:cNvPr>
          <p:cNvSpPr>
            <a:spLocks xmlns:a="http://schemas.openxmlformats.org/drawingml/2006/main" noGrp="1"/>
          </p:cNvSpPr>
          <p:nvPr/>
        </p:nvSpPr>
        <p:spPr>
          <a:xfrm xmlns:a="http://schemas.openxmlformats.org/drawingml/2006/main">
            <a:off x="1400175" y="4676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Expose incomplete work.</a:t>
            </a:r>
          </a:p>
        </p:txBody>
      </p:sp>
      <p:sp>
        <p:nvSpPr>
          <p:cNvPr id="23" name="">
            <a:extLst xmlns:a="http://schemas.openxmlformats.org/drawingml/2006/main">
              <a:ext uri="{FF2B5EF4-FFF2-40B4-BE49-F238E27FC236}">
                <a16:creationId xmlns:a16="http://schemas.microsoft.com/office/drawing/2014/main" id="{D64033AC-0ED8-40C5-9828-79BB3211F336}"/>
              </a:ext>
            </a:extLst>
          </p:cNvPr>
          <p:cNvSpPr>
            <a:spLocks xmlns:a="http://schemas.openxmlformats.org/drawingml/2006/main" noGrp="1"/>
          </p:cNvSpPr>
          <p:nvPr/>
        </p:nvSpPr>
        <p:spPr>
          <a:xfrm xmlns:a="http://schemas.openxmlformats.org/drawingml/2006/main">
            <a:off x="1400175" y="5191125"/>
            <a:ext cx="4524375" cy="0"/>
          </a:xfrm>
          <a:prstGeom xmlns:a="http://schemas.openxmlformats.org/drawingml/2006/main" prst="line">
            <a:avLst/>
          </a:prstGeom>
          <a:ln xmlns:a="http://schemas.openxmlformats.org/drawingml/2006/main" w="9525">
            <a:solidFill>
              <a:srgbClr val="D8D9D4"/>
            </a:solidFill>
          </a:ln>
        </p:spPr>
      </p:sp>
      <p:sp>
        <p:nvSpPr>
          <p:cNvPr id="24" name="">
            <a:extLst xmlns:a="http://schemas.openxmlformats.org/drawingml/2006/main">
              <a:ext uri="{FF2B5EF4-FFF2-40B4-BE49-F238E27FC236}">
                <a16:creationId xmlns:a16="http://schemas.microsoft.com/office/drawing/2014/main" id="{0EB41DB0-3091-476A-82D6-D3B98B8C068C}"/>
              </a:ext>
            </a:extLst>
          </p:cNvPr>
          <p:cNvSpPr>
            <a:spLocks xmlns:a="http://schemas.openxmlformats.org/drawingml/2006/main" noGrp="1"/>
          </p:cNvSpPr>
          <p:nvPr/>
        </p:nvSpPr>
        <p:spPr>
          <a:xfrm xmlns:a="http://schemas.openxmlformats.org/drawingml/2006/main">
            <a:off x="6210300" y="43338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06</a:t>
            </a:r>
          </a:p>
        </p:txBody>
      </p:sp>
      <p:sp>
        <p:nvSpPr>
          <p:cNvPr id="25" name="">
            <a:extLst xmlns:a="http://schemas.openxmlformats.org/drawingml/2006/main">
              <a:ext uri="{FF2B5EF4-FFF2-40B4-BE49-F238E27FC236}">
                <a16:creationId xmlns:a16="http://schemas.microsoft.com/office/drawing/2014/main" id="{0E5496E9-2C1D-468B-98CF-93E8AA72CCAE}"/>
              </a:ext>
            </a:extLst>
          </p:cNvPr>
          <p:cNvSpPr>
            <a:spLocks xmlns:a="http://schemas.openxmlformats.org/drawingml/2006/main" noGrp="1"/>
          </p:cNvSpPr>
          <p:nvPr/>
        </p:nvSpPr>
        <p:spPr>
          <a:xfrm xmlns:a="http://schemas.openxmlformats.org/drawingml/2006/main">
            <a:off x="6829425" y="43338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One successful action</a:t>
            </a:r>
          </a:p>
        </p:txBody>
      </p:sp>
      <p:sp>
        <p:nvSpPr>
          <p:cNvPr id="26" name="">
            <a:extLst xmlns:a="http://schemas.openxmlformats.org/drawingml/2006/main">
              <a:ext uri="{FF2B5EF4-FFF2-40B4-BE49-F238E27FC236}">
                <a16:creationId xmlns:a16="http://schemas.microsoft.com/office/drawing/2014/main" id="{5F2A8D86-A22D-4EE4-99FA-B2798C08F695}"/>
              </a:ext>
            </a:extLst>
          </p:cNvPr>
          <p:cNvSpPr>
            <a:spLocks xmlns:a="http://schemas.openxmlformats.org/drawingml/2006/main" noGrp="1"/>
          </p:cNvSpPr>
          <p:nvPr/>
        </p:nvSpPr>
        <p:spPr>
          <a:xfrm xmlns:a="http://schemas.openxmlformats.org/drawingml/2006/main">
            <a:off x="6829425" y="4676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Prevent duplicate effects.</a:t>
            </a:r>
          </a:p>
        </p:txBody>
      </p:sp>
      <p:sp>
        <p:nvSpPr>
          <p:cNvPr id="27" name="">
            <a:extLst xmlns:a="http://schemas.openxmlformats.org/drawingml/2006/main">
              <a:ext uri="{FF2B5EF4-FFF2-40B4-BE49-F238E27FC236}">
                <a16:creationId xmlns:a16="http://schemas.microsoft.com/office/drawing/2014/main" id="{791CF928-10CC-4022-BEDE-DABD88CAA6DD}"/>
              </a:ext>
            </a:extLst>
          </p:cNvPr>
          <p:cNvSpPr>
            <a:spLocks xmlns:a="http://schemas.openxmlformats.org/drawingml/2006/main" noGrp="1"/>
          </p:cNvSpPr>
          <p:nvPr/>
        </p:nvSpPr>
        <p:spPr>
          <a:xfrm xmlns:a="http://schemas.openxmlformats.org/drawingml/2006/main">
            <a:off x="6829425" y="5191125"/>
            <a:ext cx="4524375" cy="0"/>
          </a:xfrm>
          <a:prstGeom xmlns:a="http://schemas.openxmlformats.org/drawingml/2006/main" prst="line">
            <a:avLst/>
          </a:prstGeom>
          <a:ln xmlns:a="http://schemas.openxmlformats.org/drawingml/2006/main" w="9525">
            <a:solidFill>
              <a:srgbClr val="D8D9D4"/>
            </a:solidFill>
          </a:ln>
        </p:spPr>
      </p:sp>
      <p:sp>
        <p:nvSpPr>
          <p:cNvPr id="28" name="">
            <a:extLst xmlns:a="http://schemas.openxmlformats.org/drawingml/2006/main">
              <a:ext uri="{FF2B5EF4-FFF2-40B4-BE49-F238E27FC236}">
                <a16:creationId xmlns:a16="http://schemas.microsoft.com/office/drawing/2014/main" id="{FC2EE19F-F7DE-4774-8B2D-FCBBB1C098C0}"/>
              </a:ext>
            </a:extLst>
          </p:cNvPr>
          <p:cNvSpPr>
            <a:spLocks xmlns:a="http://schemas.openxmlformats.org/drawingml/2006/main" noGrp="1"/>
          </p:cNvSpPr>
          <p:nvPr/>
        </p:nvSpPr>
        <p:spPr>
          <a:xfrm xmlns:a="http://schemas.openxmlformats.org/drawingml/2006/main">
            <a:off x="781050" y="59055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0" i="0">
                <a:solidFill>
                  <a:srgbClr val="62645F"/>
                </a:solidFill>
                <a:latin typeface="Arial"/>
                <a:ea typeface="Arial"/>
                <a:cs typeface="Arial"/>
              </a:defRPr>
            </a:pPr>
            <a:r>
              <a:rPr sz="1275" b="0" i="0">
                <a:solidFill>
                  <a:srgbClr val="62645F"/>
                </a:solidFill>
                <a:latin typeface="Arial"/>
                <a:ea typeface="Arial"/>
                <a:cs typeface="Arial"/>
              </a:rPr>
              <a:t>The fixture is synthetic, resettable, and guarded. The behavior is real within that boundary.</a:t>
            </a:r>
          </a:p>
        </p:txBody>
      </p:sp>
    </p:spTree>
    <p:extLst>
      <p:ext uri="{BB962C8B-B14F-4D97-AF65-F5344CB8AC3E}">
        <p14:creationId xmlns:p14="http://schemas.microsoft.com/office/powerpoint/2010/main" val="491425313"/>
      </p:ext>
    </p:extLst>
  </p:cSld>
</p:sld>
</file>

<file path=ppt/slides/slide6.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ABC14AB-7781-458D-B6A8-3CA205EC602F}"/>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02 / HOW IT WORKS</a:t>
            </a:r>
          </a:p>
        </p:txBody>
      </p:sp>
      <p:sp>
        <p:nvSpPr>
          <p:cNvPr id="2" name="">
            <a:extLst xmlns:a="http://schemas.openxmlformats.org/drawingml/2006/main">
              <a:ext uri="{FF2B5EF4-FFF2-40B4-BE49-F238E27FC236}">
                <a16:creationId xmlns:a16="http://schemas.microsoft.com/office/drawing/2014/main" id="{3EB81D05-35C4-46CE-BDA4-ACF54E8ABB4E}"/>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From instruction to evidence</a:t>
            </a:r>
          </a:p>
        </p:txBody>
      </p:sp>
      <p:sp>
        <p:nvSpPr>
          <p:cNvPr id="3" name="">
            <a:extLst xmlns:a="http://schemas.openxmlformats.org/drawingml/2006/main">
              <a:ext uri="{FF2B5EF4-FFF2-40B4-BE49-F238E27FC236}">
                <a16:creationId xmlns:a16="http://schemas.microsoft.com/office/drawing/2014/main" id="{BEB27B72-DB84-401F-9373-8035FAF0D8C9}"/>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06 — 12</a:t>
            </a:r>
          </a:p>
        </p:txBody>
      </p:sp>
      <p:sp>
        <p:nvSpPr>
          <p:cNvPr id="4" name="">
            <a:extLst xmlns:a="http://schemas.openxmlformats.org/drawingml/2006/main">
              <a:ext uri="{FF2B5EF4-FFF2-40B4-BE49-F238E27FC236}">
                <a16:creationId xmlns:a16="http://schemas.microsoft.com/office/drawing/2014/main" id="{47D76CC8-A902-4760-9D99-ADB7C41643B4}"/>
              </a:ext>
            </a:extLst>
          </p:cNvPr>
          <p:cNvSpPr>
            <a:spLocks xmlns:a="http://schemas.openxmlformats.org/drawingml/2006/main" noGrp="1"/>
          </p:cNvSpPr>
          <p:nvPr/>
        </p:nvSpPr>
        <p:spPr>
          <a:xfrm xmlns:a="http://schemas.openxmlformats.org/drawingml/2006/main">
            <a:off x="68580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5" name="">
            <a:extLst xmlns:a="http://schemas.openxmlformats.org/drawingml/2006/main">
              <a:ext uri="{FF2B5EF4-FFF2-40B4-BE49-F238E27FC236}">
                <a16:creationId xmlns:a16="http://schemas.microsoft.com/office/drawing/2014/main" id="{E5365DE6-B39E-4B9B-A3E3-0D8D347DBF9E}"/>
              </a:ext>
            </a:extLst>
          </p:cNvPr>
          <p:cNvSpPr>
            <a:spLocks xmlns:a="http://schemas.openxmlformats.org/drawingml/2006/main" noGrp="1"/>
          </p:cNvSpPr>
          <p:nvPr/>
        </p:nvSpPr>
        <p:spPr>
          <a:xfrm xmlns:a="http://schemas.openxmlformats.org/drawingml/2006/main">
            <a:off x="83820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96BB0D7-F51B-4F3D-A706-6931FB40B57E}"/>
              </a:ext>
            </a:extLst>
          </p:cNvPr>
          <p:cNvSpPr>
            <a:spLocks xmlns:a="http://schemas.openxmlformats.org/drawingml/2006/main" noGrp="1"/>
          </p:cNvSpPr>
          <p:nvPr/>
        </p:nvSpPr>
        <p:spPr>
          <a:xfrm xmlns:a="http://schemas.openxmlformats.org/drawingml/2006/main">
            <a:off x="83820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AAP UI</a:t>
            </a:r>
          </a:p>
        </p:txBody>
      </p:sp>
      <p:sp>
        <p:nvSpPr>
          <p:cNvPr id="7" name="">
            <a:extLst xmlns:a="http://schemas.openxmlformats.org/drawingml/2006/main">
              <a:ext uri="{FF2B5EF4-FFF2-40B4-BE49-F238E27FC236}">
                <a16:creationId xmlns:a16="http://schemas.microsoft.com/office/drawing/2014/main" id="{E6C2188D-4F71-43B6-8EED-72200F01D4CC}"/>
              </a:ext>
            </a:extLst>
          </p:cNvPr>
          <p:cNvSpPr>
            <a:spLocks xmlns:a="http://schemas.openxmlformats.org/drawingml/2006/main" noGrp="1"/>
          </p:cNvSpPr>
          <p:nvPr/>
        </p:nvSpPr>
        <p:spPr>
          <a:xfrm xmlns:a="http://schemas.openxmlformats.org/drawingml/2006/main">
            <a:off x="83820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Choose agent, scenario, and mode</a:t>
            </a:r>
          </a:p>
        </p:txBody>
      </p:sp>
      <p:sp>
        <p:nvSpPr>
          <p:cNvPr id="8" name="">
            <a:extLst xmlns:a="http://schemas.openxmlformats.org/drawingml/2006/main">
              <a:ext uri="{FF2B5EF4-FFF2-40B4-BE49-F238E27FC236}">
                <a16:creationId xmlns:a16="http://schemas.microsoft.com/office/drawing/2014/main" id="{EE7A9D65-CFCA-4488-90AE-84F942EA44B9}"/>
              </a:ext>
            </a:extLst>
          </p:cNvPr>
          <p:cNvSpPr>
            <a:spLocks xmlns:a="http://schemas.openxmlformats.org/drawingml/2006/main" noGrp="1"/>
          </p:cNvSpPr>
          <p:nvPr/>
        </p:nvSpPr>
        <p:spPr>
          <a:xfrm xmlns:a="http://schemas.openxmlformats.org/drawingml/2006/main">
            <a:off x="204787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9" name="">
            <a:extLst xmlns:a="http://schemas.openxmlformats.org/drawingml/2006/main">
              <a:ext uri="{FF2B5EF4-FFF2-40B4-BE49-F238E27FC236}">
                <a16:creationId xmlns:a16="http://schemas.microsoft.com/office/drawing/2014/main" id="{2A88880F-74CA-4D6E-8B2C-8A4CCD349AAA}"/>
              </a:ext>
            </a:extLst>
          </p:cNvPr>
          <p:cNvSpPr>
            <a:spLocks xmlns:a="http://schemas.openxmlformats.org/drawingml/2006/main" noGrp="1"/>
          </p:cNvSpPr>
          <p:nvPr/>
        </p:nvSpPr>
        <p:spPr>
          <a:xfrm xmlns:a="http://schemas.openxmlformats.org/drawingml/2006/main">
            <a:off x="226695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10" name="">
            <a:extLst xmlns:a="http://schemas.openxmlformats.org/drawingml/2006/main">
              <a:ext uri="{FF2B5EF4-FFF2-40B4-BE49-F238E27FC236}">
                <a16:creationId xmlns:a16="http://schemas.microsoft.com/office/drawing/2014/main" id="{DB6C5AAD-5C85-4178-ADAE-E2760F500672}"/>
              </a:ext>
            </a:extLst>
          </p:cNvPr>
          <p:cNvSpPr>
            <a:spLocks xmlns:a="http://schemas.openxmlformats.org/drawingml/2006/main" noGrp="1"/>
          </p:cNvSpPr>
          <p:nvPr/>
        </p:nvSpPr>
        <p:spPr>
          <a:xfrm xmlns:a="http://schemas.openxmlformats.org/drawingml/2006/main">
            <a:off x="241935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EF68F12E-2226-40BF-AA71-A4FA6E484623}"/>
              </a:ext>
            </a:extLst>
          </p:cNvPr>
          <p:cNvSpPr>
            <a:spLocks xmlns:a="http://schemas.openxmlformats.org/drawingml/2006/main" noGrp="1"/>
          </p:cNvSpPr>
          <p:nvPr/>
        </p:nvSpPr>
        <p:spPr>
          <a:xfrm xmlns:a="http://schemas.openxmlformats.org/drawingml/2006/main">
            <a:off x="241935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n8n</a:t>
            </a:r>
          </a:p>
        </p:txBody>
      </p:sp>
      <p:sp>
        <p:nvSpPr>
          <p:cNvPr id="12" name="">
            <a:extLst xmlns:a="http://schemas.openxmlformats.org/drawingml/2006/main">
              <a:ext uri="{FF2B5EF4-FFF2-40B4-BE49-F238E27FC236}">
                <a16:creationId xmlns:a16="http://schemas.microsoft.com/office/drawing/2014/main" id="{A5055261-5898-488A-8C6E-997814F82ABE}"/>
              </a:ext>
            </a:extLst>
          </p:cNvPr>
          <p:cNvSpPr>
            <a:spLocks xmlns:a="http://schemas.openxmlformats.org/drawingml/2006/main" noGrp="1"/>
          </p:cNvSpPr>
          <p:nvPr/>
        </p:nvSpPr>
        <p:spPr>
          <a:xfrm xmlns:a="http://schemas.openxmlformats.org/drawingml/2006/main">
            <a:off x="241935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Route the request</a:t>
            </a:r>
          </a:p>
        </p:txBody>
      </p:sp>
      <p:sp>
        <p:nvSpPr>
          <p:cNvPr id="13" name="">
            <a:extLst xmlns:a="http://schemas.openxmlformats.org/drawingml/2006/main">
              <a:ext uri="{FF2B5EF4-FFF2-40B4-BE49-F238E27FC236}">
                <a16:creationId xmlns:a16="http://schemas.microsoft.com/office/drawing/2014/main" id="{34CC47FB-33D3-4E68-85A3-1608B084D79F}"/>
              </a:ext>
            </a:extLst>
          </p:cNvPr>
          <p:cNvSpPr>
            <a:spLocks xmlns:a="http://schemas.openxmlformats.org/drawingml/2006/main" noGrp="1"/>
          </p:cNvSpPr>
          <p:nvPr/>
        </p:nvSpPr>
        <p:spPr>
          <a:xfrm xmlns:a="http://schemas.openxmlformats.org/drawingml/2006/main">
            <a:off x="362902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4" name="">
            <a:extLst xmlns:a="http://schemas.openxmlformats.org/drawingml/2006/main">
              <a:ext uri="{FF2B5EF4-FFF2-40B4-BE49-F238E27FC236}">
                <a16:creationId xmlns:a16="http://schemas.microsoft.com/office/drawing/2014/main" id="{E433E9F4-12A1-4417-B96A-9A959AA0701D}"/>
              </a:ext>
            </a:extLst>
          </p:cNvPr>
          <p:cNvSpPr>
            <a:spLocks xmlns:a="http://schemas.openxmlformats.org/drawingml/2006/main" noGrp="1"/>
          </p:cNvSpPr>
          <p:nvPr/>
        </p:nvSpPr>
        <p:spPr>
          <a:xfrm xmlns:a="http://schemas.openxmlformats.org/drawingml/2006/main">
            <a:off x="384810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15" name="">
            <a:extLst xmlns:a="http://schemas.openxmlformats.org/drawingml/2006/main">
              <a:ext uri="{FF2B5EF4-FFF2-40B4-BE49-F238E27FC236}">
                <a16:creationId xmlns:a16="http://schemas.microsoft.com/office/drawing/2014/main" id="{51EF7803-0990-44E8-8609-484B7C7D2D7D}"/>
              </a:ext>
            </a:extLst>
          </p:cNvPr>
          <p:cNvSpPr>
            <a:spLocks xmlns:a="http://schemas.openxmlformats.org/drawingml/2006/main" noGrp="1"/>
          </p:cNvSpPr>
          <p:nvPr/>
        </p:nvSpPr>
        <p:spPr>
          <a:xfrm xmlns:a="http://schemas.openxmlformats.org/drawingml/2006/main">
            <a:off x="400050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44E18A14-8B67-47F5-B5FF-A7BEFB80BDE3}"/>
              </a:ext>
            </a:extLst>
          </p:cNvPr>
          <p:cNvSpPr>
            <a:spLocks xmlns:a="http://schemas.openxmlformats.org/drawingml/2006/main" noGrp="1"/>
          </p:cNvSpPr>
          <p:nvPr/>
        </p:nvSpPr>
        <p:spPr>
          <a:xfrm xmlns:a="http://schemas.openxmlformats.org/drawingml/2006/main">
            <a:off x="400050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Gemini</a:t>
            </a:r>
          </a:p>
        </p:txBody>
      </p:sp>
      <p:sp>
        <p:nvSpPr>
          <p:cNvPr id="17" name="">
            <a:extLst xmlns:a="http://schemas.openxmlformats.org/drawingml/2006/main">
              <a:ext uri="{FF2B5EF4-FFF2-40B4-BE49-F238E27FC236}">
                <a16:creationId xmlns:a16="http://schemas.microsoft.com/office/drawing/2014/main" id="{D608335D-D70D-4FE2-BEA5-3551CD2A1227}"/>
              </a:ext>
            </a:extLst>
          </p:cNvPr>
          <p:cNvSpPr>
            <a:spLocks xmlns:a="http://schemas.openxmlformats.org/drawingml/2006/main" noGrp="1"/>
          </p:cNvSpPr>
          <p:nvPr/>
        </p:nvSpPr>
        <p:spPr>
          <a:xfrm xmlns:a="http://schemas.openxmlformats.org/drawingml/2006/main">
            <a:off x="400050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Choose the next tool</a:t>
            </a:r>
          </a:p>
        </p:txBody>
      </p:sp>
      <p:sp>
        <p:nvSpPr>
          <p:cNvPr id="18" name="">
            <a:extLst xmlns:a="http://schemas.openxmlformats.org/drawingml/2006/main">
              <a:ext uri="{FF2B5EF4-FFF2-40B4-BE49-F238E27FC236}">
                <a16:creationId xmlns:a16="http://schemas.microsoft.com/office/drawing/2014/main" id="{6344EB2A-B59F-4FB4-A283-BF4F78FFBF80}"/>
              </a:ext>
            </a:extLst>
          </p:cNvPr>
          <p:cNvSpPr>
            <a:spLocks xmlns:a="http://schemas.openxmlformats.org/drawingml/2006/main" noGrp="1"/>
          </p:cNvSpPr>
          <p:nvPr/>
        </p:nvSpPr>
        <p:spPr>
          <a:xfrm xmlns:a="http://schemas.openxmlformats.org/drawingml/2006/main">
            <a:off x="521017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9" name="">
            <a:extLst xmlns:a="http://schemas.openxmlformats.org/drawingml/2006/main">
              <a:ext uri="{FF2B5EF4-FFF2-40B4-BE49-F238E27FC236}">
                <a16:creationId xmlns:a16="http://schemas.microsoft.com/office/drawing/2014/main" id="{4E258990-809E-4C21-8F49-E1FC359CFA0B}"/>
              </a:ext>
            </a:extLst>
          </p:cNvPr>
          <p:cNvSpPr>
            <a:spLocks xmlns:a="http://schemas.openxmlformats.org/drawingml/2006/main" noGrp="1"/>
          </p:cNvSpPr>
          <p:nvPr/>
        </p:nvSpPr>
        <p:spPr>
          <a:xfrm xmlns:a="http://schemas.openxmlformats.org/drawingml/2006/main">
            <a:off x="5429250" y="2381250"/>
            <a:ext cx="1333500" cy="1428750"/>
          </a:xfrm>
          <a:prstGeom xmlns:a="http://schemas.openxmlformats.org/drawingml/2006/main" prst="roundRect">
            <a:avLst>
              <a:gd name="adj" fmla="val 8571"/>
            </a:avLst>
          </a:prstGeom>
          <a:solidFill xmlns:a="http://schemas.openxmlformats.org/drawingml/2006/main">
            <a:srgbClr val="272A27"/>
          </a:solidFill>
          <a:ln xmlns:a="http://schemas.openxmlformats.org/drawingml/2006/main" w="9525">
            <a:solidFill>
              <a:srgbClr val="272A27"/>
            </a:solidFill>
          </a:ln>
        </p:spPr>
      </p:sp>
      <p:sp>
        <p:nvSpPr>
          <p:cNvPr id="20" name="">
            <a:extLst xmlns:a="http://schemas.openxmlformats.org/drawingml/2006/main">
              <a:ext uri="{FF2B5EF4-FFF2-40B4-BE49-F238E27FC236}">
                <a16:creationId xmlns:a16="http://schemas.microsoft.com/office/drawing/2014/main" id="{68480172-02D0-4091-BDB1-12C79BFDA5E4}"/>
              </a:ext>
            </a:extLst>
          </p:cNvPr>
          <p:cNvSpPr>
            <a:spLocks xmlns:a="http://schemas.openxmlformats.org/drawingml/2006/main" noGrp="1"/>
          </p:cNvSpPr>
          <p:nvPr/>
        </p:nvSpPr>
        <p:spPr>
          <a:xfrm xmlns:a="http://schemas.openxmlformats.org/drawingml/2006/main">
            <a:off x="558165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A9ADA6"/>
                </a:solidFill>
                <a:latin typeface="Arial"/>
                <a:ea typeface="Arial"/>
                <a:cs typeface="Arial"/>
              </a:defRPr>
            </a:pPr>
            <a:r>
              <a:rPr sz="900" b="1" i="0">
                <a:solidFill>
                  <a:srgbClr val="A9ADA6"/>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CFBE0E93-CF75-451C-B18C-EE2AFA0E6BB4}"/>
              </a:ext>
            </a:extLst>
          </p:cNvPr>
          <p:cNvSpPr>
            <a:spLocks xmlns:a="http://schemas.openxmlformats.org/drawingml/2006/main" noGrp="1"/>
          </p:cNvSpPr>
          <p:nvPr/>
        </p:nvSpPr>
        <p:spPr>
          <a:xfrm xmlns:a="http://schemas.openxmlformats.org/drawingml/2006/main">
            <a:off x="558165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769"/>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Guarded tools</a:t>
            </a:r>
          </a:p>
        </p:txBody>
      </p:sp>
      <p:sp>
        <p:nvSpPr>
          <p:cNvPr id="22" name="">
            <a:extLst xmlns:a="http://schemas.openxmlformats.org/drawingml/2006/main">
              <a:ext uri="{FF2B5EF4-FFF2-40B4-BE49-F238E27FC236}">
                <a16:creationId xmlns:a16="http://schemas.microsoft.com/office/drawing/2014/main" id="{1A3C7029-B093-450F-947F-8DB105C512EA}"/>
              </a:ext>
            </a:extLst>
          </p:cNvPr>
          <p:cNvSpPr>
            <a:spLocks xmlns:a="http://schemas.openxmlformats.org/drawingml/2006/main" noGrp="1"/>
          </p:cNvSpPr>
          <p:nvPr/>
        </p:nvSpPr>
        <p:spPr>
          <a:xfrm xmlns:a="http://schemas.openxmlformats.org/drawingml/2006/main">
            <a:off x="558165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E9EAE5"/>
                </a:solidFill>
                <a:latin typeface="Arial"/>
                <a:ea typeface="Arial"/>
                <a:cs typeface="Arial"/>
              </a:defRPr>
            </a:pPr>
            <a:r>
              <a:rPr sz="825" b="0" i="0">
                <a:solidFill>
                  <a:srgbClr val="E9EAE5"/>
                </a:solidFill>
                <a:latin typeface="Arial"/>
                <a:ea typeface="Arial"/>
                <a:cs typeface="Arial"/>
              </a:rPr>
              <a:t>Apply only allowed actions</a:t>
            </a:r>
          </a:p>
        </p:txBody>
      </p:sp>
      <p:sp>
        <p:nvSpPr>
          <p:cNvPr id="23" name="">
            <a:extLst xmlns:a="http://schemas.openxmlformats.org/drawingml/2006/main">
              <a:ext uri="{FF2B5EF4-FFF2-40B4-BE49-F238E27FC236}">
                <a16:creationId xmlns:a16="http://schemas.microsoft.com/office/drawing/2014/main" id="{90A1C722-FCFD-41E3-A5F0-ED97F8FE7125}"/>
              </a:ext>
            </a:extLst>
          </p:cNvPr>
          <p:cNvSpPr>
            <a:spLocks xmlns:a="http://schemas.openxmlformats.org/drawingml/2006/main" noGrp="1"/>
          </p:cNvSpPr>
          <p:nvPr/>
        </p:nvSpPr>
        <p:spPr>
          <a:xfrm xmlns:a="http://schemas.openxmlformats.org/drawingml/2006/main">
            <a:off x="679132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24" name="">
            <a:extLst xmlns:a="http://schemas.openxmlformats.org/drawingml/2006/main">
              <a:ext uri="{FF2B5EF4-FFF2-40B4-BE49-F238E27FC236}">
                <a16:creationId xmlns:a16="http://schemas.microsoft.com/office/drawing/2014/main" id="{2404F6CE-EB00-41F9-9909-72E82400694B}"/>
              </a:ext>
            </a:extLst>
          </p:cNvPr>
          <p:cNvSpPr>
            <a:spLocks xmlns:a="http://schemas.openxmlformats.org/drawingml/2006/main" noGrp="1"/>
          </p:cNvSpPr>
          <p:nvPr/>
        </p:nvSpPr>
        <p:spPr>
          <a:xfrm xmlns:a="http://schemas.openxmlformats.org/drawingml/2006/main">
            <a:off x="701040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25" name="">
            <a:extLst xmlns:a="http://schemas.openxmlformats.org/drawingml/2006/main">
              <a:ext uri="{FF2B5EF4-FFF2-40B4-BE49-F238E27FC236}">
                <a16:creationId xmlns:a16="http://schemas.microsoft.com/office/drawing/2014/main" id="{99896F42-436A-476C-A456-AF333FC23920}"/>
              </a:ext>
            </a:extLst>
          </p:cNvPr>
          <p:cNvSpPr>
            <a:spLocks xmlns:a="http://schemas.openxmlformats.org/drawingml/2006/main" noGrp="1"/>
          </p:cNvSpPr>
          <p:nvPr/>
        </p:nvSpPr>
        <p:spPr>
          <a:xfrm xmlns:a="http://schemas.openxmlformats.org/drawingml/2006/main">
            <a:off x="716280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7A90BFF1-CD64-41C4-BA5C-20C13C1F6461}"/>
              </a:ext>
            </a:extLst>
          </p:cNvPr>
          <p:cNvSpPr>
            <a:spLocks xmlns:a="http://schemas.openxmlformats.org/drawingml/2006/main" noGrp="1"/>
          </p:cNvSpPr>
          <p:nvPr/>
        </p:nvSpPr>
        <p:spPr>
          <a:xfrm xmlns:a="http://schemas.openxmlformats.org/drawingml/2006/main">
            <a:off x="716280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Workspace</a:t>
            </a:r>
          </a:p>
        </p:txBody>
      </p:sp>
      <p:sp>
        <p:nvSpPr>
          <p:cNvPr id="27" name="">
            <a:extLst xmlns:a="http://schemas.openxmlformats.org/drawingml/2006/main">
              <a:ext uri="{FF2B5EF4-FFF2-40B4-BE49-F238E27FC236}">
                <a16:creationId xmlns:a16="http://schemas.microsoft.com/office/drawing/2014/main" id="{E10E5115-DC5A-41E4-B3D3-FD1FD1ADF82C}"/>
              </a:ext>
            </a:extLst>
          </p:cNvPr>
          <p:cNvSpPr>
            <a:spLocks xmlns:a="http://schemas.openxmlformats.org/drawingml/2006/main" noGrp="1"/>
          </p:cNvSpPr>
          <p:nvPr/>
        </p:nvSpPr>
        <p:spPr>
          <a:xfrm xmlns:a="http://schemas.openxmlformats.org/drawingml/2006/main">
            <a:off x="716280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Record real file effects</a:t>
            </a:r>
          </a:p>
        </p:txBody>
      </p:sp>
      <p:sp>
        <p:nvSpPr>
          <p:cNvPr id="28" name="">
            <a:extLst xmlns:a="http://schemas.openxmlformats.org/drawingml/2006/main">
              <a:ext uri="{FF2B5EF4-FFF2-40B4-BE49-F238E27FC236}">
                <a16:creationId xmlns:a16="http://schemas.microsoft.com/office/drawing/2014/main" id="{19D7179D-3C5B-486D-AE31-9FC3F70089CE}"/>
              </a:ext>
            </a:extLst>
          </p:cNvPr>
          <p:cNvSpPr>
            <a:spLocks xmlns:a="http://schemas.openxmlformats.org/drawingml/2006/main" noGrp="1"/>
          </p:cNvSpPr>
          <p:nvPr/>
        </p:nvSpPr>
        <p:spPr>
          <a:xfrm xmlns:a="http://schemas.openxmlformats.org/drawingml/2006/main">
            <a:off x="837247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29" name="">
            <a:extLst xmlns:a="http://schemas.openxmlformats.org/drawingml/2006/main">
              <a:ext uri="{FF2B5EF4-FFF2-40B4-BE49-F238E27FC236}">
                <a16:creationId xmlns:a16="http://schemas.microsoft.com/office/drawing/2014/main" id="{41E6A83E-0C09-4703-909D-3A58A97EE26C}"/>
              </a:ext>
            </a:extLst>
          </p:cNvPr>
          <p:cNvSpPr>
            <a:spLocks xmlns:a="http://schemas.openxmlformats.org/drawingml/2006/main" noGrp="1"/>
          </p:cNvSpPr>
          <p:nvPr/>
        </p:nvSpPr>
        <p:spPr>
          <a:xfrm xmlns:a="http://schemas.openxmlformats.org/drawingml/2006/main">
            <a:off x="859155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30" name="">
            <a:extLst xmlns:a="http://schemas.openxmlformats.org/drawingml/2006/main">
              <a:ext uri="{FF2B5EF4-FFF2-40B4-BE49-F238E27FC236}">
                <a16:creationId xmlns:a16="http://schemas.microsoft.com/office/drawing/2014/main" id="{C29C5CB0-A232-4767-ADF9-45FB8FDBC3F9}"/>
              </a:ext>
            </a:extLst>
          </p:cNvPr>
          <p:cNvSpPr>
            <a:spLocks xmlns:a="http://schemas.openxmlformats.org/drawingml/2006/main" noGrp="1"/>
          </p:cNvSpPr>
          <p:nvPr/>
        </p:nvSpPr>
        <p:spPr>
          <a:xfrm xmlns:a="http://schemas.openxmlformats.org/drawingml/2006/main">
            <a:off x="874395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6</a:t>
            </a:r>
          </a:p>
        </p:txBody>
      </p:sp>
      <p:sp>
        <p:nvSpPr>
          <p:cNvPr id="31" name="">
            <a:extLst xmlns:a="http://schemas.openxmlformats.org/drawingml/2006/main">
              <a:ext uri="{FF2B5EF4-FFF2-40B4-BE49-F238E27FC236}">
                <a16:creationId xmlns:a16="http://schemas.microsoft.com/office/drawing/2014/main" id="{6D31C636-BA3B-4585-9AE1-08AD3234A5FF}"/>
              </a:ext>
            </a:extLst>
          </p:cNvPr>
          <p:cNvSpPr>
            <a:spLocks xmlns:a="http://schemas.openxmlformats.org/drawingml/2006/main" noGrp="1"/>
          </p:cNvSpPr>
          <p:nvPr/>
        </p:nvSpPr>
        <p:spPr>
          <a:xfrm xmlns:a="http://schemas.openxmlformats.org/drawingml/2006/main">
            <a:off x="874395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Trace</a:t>
            </a:r>
          </a:p>
        </p:txBody>
      </p:sp>
      <p:sp>
        <p:nvSpPr>
          <p:cNvPr id="32" name="">
            <a:extLst xmlns:a="http://schemas.openxmlformats.org/drawingml/2006/main">
              <a:ext uri="{FF2B5EF4-FFF2-40B4-BE49-F238E27FC236}">
                <a16:creationId xmlns:a16="http://schemas.microsoft.com/office/drawing/2014/main" id="{574F40EB-A651-4C00-8D69-E0105B0B3DAB}"/>
              </a:ext>
            </a:extLst>
          </p:cNvPr>
          <p:cNvSpPr>
            <a:spLocks xmlns:a="http://schemas.openxmlformats.org/drawingml/2006/main" noGrp="1"/>
          </p:cNvSpPr>
          <p:nvPr/>
        </p:nvSpPr>
        <p:spPr>
          <a:xfrm xmlns:a="http://schemas.openxmlformats.org/drawingml/2006/main">
            <a:off x="874395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Save ordered events</a:t>
            </a:r>
          </a:p>
        </p:txBody>
      </p:sp>
      <p:sp>
        <p:nvSpPr>
          <p:cNvPr id="33" name="">
            <a:extLst xmlns:a="http://schemas.openxmlformats.org/drawingml/2006/main">
              <a:ext uri="{FF2B5EF4-FFF2-40B4-BE49-F238E27FC236}">
                <a16:creationId xmlns:a16="http://schemas.microsoft.com/office/drawing/2014/main" id="{136DCEC1-ED06-4D61-8488-8A06BE1C9265}"/>
              </a:ext>
            </a:extLst>
          </p:cNvPr>
          <p:cNvSpPr>
            <a:spLocks xmlns:a="http://schemas.openxmlformats.org/drawingml/2006/main" noGrp="1"/>
          </p:cNvSpPr>
          <p:nvPr/>
        </p:nvSpPr>
        <p:spPr>
          <a:xfrm xmlns:a="http://schemas.openxmlformats.org/drawingml/2006/main">
            <a:off x="9953625" y="3009900"/>
            <a:ext cx="1714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34" name="">
            <a:extLst xmlns:a="http://schemas.openxmlformats.org/drawingml/2006/main">
              <a:ext uri="{FF2B5EF4-FFF2-40B4-BE49-F238E27FC236}">
                <a16:creationId xmlns:a16="http://schemas.microsoft.com/office/drawing/2014/main" id="{DCC8E64D-FE1B-4173-B30A-E63989C3EED5}"/>
              </a:ext>
            </a:extLst>
          </p:cNvPr>
          <p:cNvSpPr>
            <a:spLocks xmlns:a="http://schemas.openxmlformats.org/drawingml/2006/main" noGrp="1"/>
          </p:cNvSpPr>
          <p:nvPr/>
        </p:nvSpPr>
        <p:spPr>
          <a:xfrm xmlns:a="http://schemas.openxmlformats.org/drawingml/2006/main">
            <a:off x="10172700" y="2381250"/>
            <a:ext cx="1333500" cy="1428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8D9D4"/>
            </a:solidFill>
          </a:ln>
        </p:spPr>
      </p:sp>
      <p:sp>
        <p:nvSpPr>
          <p:cNvPr id="35" name="">
            <a:extLst xmlns:a="http://schemas.openxmlformats.org/drawingml/2006/main">
              <a:ext uri="{FF2B5EF4-FFF2-40B4-BE49-F238E27FC236}">
                <a16:creationId xmlns:a16="http://schemas.microsoft.com/office/drawing/2014/main" id="{6EFDE505-A620-40B1-9872-ED05AF177BB1}"/>
              </a:ext>
            </a:extLst>
          </p:cNvPr>
          <p:cNvSpPr>
            <a:spLocks xmlns:a="http://schemas.openxmlformats.org/drawingml/2006/main" noGrp="1"/>
          </p:cNvSpPr>
          <p:nvPr/>
        </p:nvSpPr>
        <p:spPr>
          <a:xfrm xmlns:a="http://schemas.openxmlformats.org/drawingml/2006/main">
            <a:off x="10325100" y="2552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7</a:t>
            </a:r>
          </a:p>
        </p:txBody>
      </p:sp>
      <p:sp>
        <p:nvSpPr>
          <p:cNvPr id="36" name="">
            <a:extLst xmlns:a="http://schemas.openxmlformats.org/drawingml/2006/main">
              <a:ext uri="{FF2B5EF4-FFF2-40B4-BE49-F238E27FC236}">
                <a16:creationId xmlns:a16="http://schemas.microsoft.com/office/drawing/2014/main" id="{1EBD62F2-5C8E-45F2-B23F-962F740836EF}"/>
              </a:ext>
            </a:extLst>
          </p:cNvPr>
          <p:cNvSpPr>
            <a:spLocks xmlns:a="http://schemas.openxmlformats.org/drawingml/2006/main" noGrp="1"/>
          </p:cNvSpPr>
          <p:nvPr/>
        </p:nvSpPr>
        <p:spPr>
          <a:xfrm xmlns:a="http://schemas.openxmlformats.org/drawingml/2006/main">
            <a:off x="10325100" y="29527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i="0">
                <a:solidFill>
                  <a:srgbClr val="171817"/>
                </a:solidFill>
                <a:latin typeface="Arial"/>
                <a:ea typeface="Arial"/>
                <a:cs typeface="Arial"/>
              </a:defRPr>
            </a:pPr>
            <a:r>
              <a:rPr sz="1350" b="1" i="0">
                <a:solidFill>
                  <a:srgbClr val="171817"/>
                </a:solidFill>
                <a:latin typeface="Arial"/>
                <a:ea typeface="Arial"/>
                <a:cs typeface="Arial"/>
              </a:rPr>
              <a:t>Evaluator</a:t>
            </a:r>
          </a:p>
        </p:txBody>
      </p:sp>
      <p:sp>
        <p:nvSpPr>
          <p:cNvPr id="37" name="">
            <a:extLst xmlns:a="http://schemas.openxmlformats.org/drawingml/2006/main">
              <a:ext uri="{FF2B5EF4-FFF2-40B4-BE49-F238E27FC236}">
                <a16:creationId xmlns:a16="http://schemas.microsoft.com/office/drawing/2014/main" id="{1A67190D-423D-4694-BA86-A88AEB937F34}"/>
              </a:ext>
            </a:extLst>
          </p:cNvPr>
          <p:cNvSpPr>
            <a:spLocks xmlns:a="http://schemas.openxmlformats.org/drawingml/2006/main" noGrp="1"/>
          </p:cNvSpPr>
          <p:nvPr/>
        </p:nvSpPr>
        <p:spPr>
          <a:xfrm xmlns:a="http://schemas.openxmlformats.org/drawingml/2006/main">
            <a:off x="10325100" y="3333750"/>
            <a:ext cx="1066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2"/>
          </a:bodyPr>
          <a:lstStyle xmlns:a="http://schemas.openxmlformats.org/drawingml/2006/main"/>
          <a:p xmlns:a="http://schemas.openxmlformats.org/drawingml/2006/main">
            <a:pPr>
              <a:defRPr sz="825" b="0" i="0">
                <a:solidFill>
                  <a:srgbClr val="62645F"/>
                </a:solidFill>
                <a:latin typeface="Arial"/>
                <a:ea typeface="Arial"/>
                <a:cs typeface="Arial"/>
              </a:defRPr>
            </a:pPr>
            <a:r>
              <a:rPr sz="825" b="0" i="0">
                <a:solidFill>
                  <a:srgbClr val="62645F"/>
                </a:solidFill>
                <a:latin typeface="Arial"/>
                <a:ea typeface="Arial"/>
                <a:cs typeface="Arial"/>
              </a:rPr>
              <a:t>Issue PASS, FAIL, or UNCERTAIN</a:t>
            </a:r>
          </a:p>
        </p:txBody>
      </p:sp>
      <p:sp>
        <p:nvSpPr>
          <p:cNvPr id="38" name="">
            <a:extLst xmlns:a="http://schemas.openxmlformats.org/drawingml/2006/main">
              <a:ext uri="{FF2B5EF4-FFF2-40B4-BE49-F238E27FC236}">
                <a16:creationId xmlns:a16="http://schemas.microsoft.com/office/drawing/2014/main" id="{91694952-B671-4F78-80E1-63598FEAFF48}"/>
              </a:ext>
            </a:extLst>
          </p:cNvPr>
          <p:cNvSpPr>
            <a:spLocks xmlns:a="http://schemas.openxmlformats.org/drawingml/2006/main" noGrp="1"/>
          </p:cNvSpPr>
          <p:nvPr/>
        </p:nvSpPr>
        <p:spPr>
          <a:xfrm xmlns:a="http://schemas.openxmlformats.org/drawingml/2006/main">
            <a:off x="685800" y="4667250"/>
            <a:ext cx="809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i="0">
                <a:solidFill>
                  <a:srgbClr val="171817"/>
                </a:solidFill>
                <a:latin typeface="Arial"/>
                <a:ea typeface="Arial"/>
                <a:cs typeface="Arial"/>
              </a:defRPr>
            </a:pPr>
            <a:r>
              <a:rPr sz="2100" b="1" i="0">
                <a:solidFill>
                  <a:srgbClr val="171817"/>
                </a:solidFill>
                <a:latin typeface="Arial"/>
                <a:ea typeface="Arial"/>
                <a:cs typeface="Arial"/>
              </a:rPr>
              <a:t>One path. One saved identity. No silent fallback.</a:t>
            </a:r>
          </a:p>
        </p:txBody>
      </p:sp>
      <p:sp>
        <p:nvSpPr>
          <p:cNvPr id="39" name="">
            <a:extLst xmlns:a="http://schemas.openxmlformats.org/drawingml/2006/main">
              <a:ext uri="{FF2B5EF4-FFF2-40B4-BE49-F238E27FC236}">
                <a16:creationId xmlns:a16="http://schemas.microsoft.com/office/drawing/2014/main" id="{5348BEEF-D047-485A-AE8F-7C8967CA5B8C}"/>
              </a:ext>
            </a:extLst>
          </p:cNvPr>
          <p:cNvSpPr>
            <a:spLocks xmlns:a="http://schemas.openxmlformats.org/drawingml/2006/main" noGrp="1"/>
          </p:cNvSpPr>
          <p:nvPr/>
        </p:nvSpPr>
        <p:spPr>
          <a:xfrm xmlns:a="http://schemas.openxmlformats.org/drawingml/2006/main">
            <a:off x="685800" y="52387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LIVE_MODEL and DEMO_FALLBACK are recorded on every run, and the verdict is evaluated separately.</a:t>
            </a:r>
          </a:p>
        </p:txBody>
      </p:sp>
    </p:spTree>
    <p:extLst>
      <p:ext uri="{BB962C8B-B14F-4D97-AF65-F5344CB8AC3E}">
        <p14:creationId xmlns:p14="http://schemas.microsoft.com/office/powerpoint/2010/main" val="1700657181"/>
      </p:ext>
    </p:extLst>
  </p:cSld>
</p:sld>
</file>

<file path=ppt/slides/slide7.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D6AE9FC-854B-4D3C-B31A-52DA3E949425}"/>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02 / HOW IT WORKS</a:t>
            </a:r>
          </a:p>
        </p:txBody>
      </p:sp>
      <p:sp>
        <p:nvSpPr>
          <p:cNvPr id="2" name="">
            <a:extLst xmlns:a="http://schemas.openxmlformats.org/drawingml/2006/main">
              <a:ext uri="{FF2B5EF4-FFF2-40B4-BE49-F238E27FC236}">
                <a16:creationId xmlns:a16="http://schemas.microsoft.com/office/drawing/2014/main" id="{F674D5B7-A25B-4912-B6D8-4E7BF5308765}"/>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The model can act only inside a named boundary</a:t>
            </a:r>
          </a:p>
        </p:txBody>
      </p:sp>
      <p:sp>
        <p:nvSpPr>
          <p:cNvPr id="3" name="">
            <a:extLst xmlns:a="http://schemas.openxmlformats.org/drawingml/2006/main">
              <a:ext uri="{FF2B5EF4-FFF2-40B4-BE49-F238E27FC236}">
                <a16:creationId xmlns:a16="http://schemas.microsoft.com/office/drawing/2014/main" id="{AC047232-31B8-4944-AD35-98EDD7F76805}"/>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07 — 12</a:t>
            </a:r>
          </a:p>
        </p:txBody>
      </p:sp>
      <p:sp>
        <p:nvSpPr>
          <p:cNvPr id="4" name="">
            <a:extLst xmlns:a="http://schemas.openxmlformats.org/drawingml/2006/main">
              <a:ext uri="{FF2B5EF4-FFF2-40B4-BE49-F238E27FC236}">
                <a16:creationId xmlns:a16="http://schemas.microsoft.com/office/drawing/2014/main" id="{7C0FE749-752A-493A-BDB4-00C63B2F5B86}"/>
              </a:ext>
            </a:extLst>
          </p:cNvPr>
          <p:cNvSpPr>
            <a:spLocks xmlns:a="http://schemas.openxmlformats.org/drawingml/2006/main" noGrp="1"/>
          </p:cNvSpPr>
          <p:nvPr/>
        </p:nvSpPr>
        <p:spPr>
          <a:xfrm xmlns:a="http://schemas.openxmlformats.org/drawingml/2006/main">
            <a:off x="685800" y="1809750"/>
            <a:ext cx="4762500" cy="3429000"/>
          </a:xfrm>
          <a:prstGeom xmlns:a="http://schemas.openxmlformats.org/drawingml/2006/main" prst="roundRect">
            <a:avLst>
              <a:gd name="adj" fmla="val 5000"/>
            </a:avLst>
          </a:prstGeom>
          <a:solidFill xmlns:a="http://schemas.openxmlformats.org/drawingml/2006/main">
            <a:srgbClr val="272A27"/>
          </a:solidFill>
          <a:ln xmlns:a="http://schemas.openxmlformats.org/drawingml/2006/main" w="9525">
            <a:solidFill>
              <a:srgbClr val="272A27"/>
            </a:solidFill>
          </a:ln>
        </p:spPr>
      </p:sp>
      <p:sp>
        <p:nvSpPr>
          <p:cNvPr id="5" name="">
            <a:extLst xmlns:a="http://schemas.openxmlformats.org/drawingml/2006/main">
              <a:ext uri="{FF2B5EF4-FFF2-40B4-BE49-F238E27FC236}">
                <a16:creationId xmlns:a16="http://schemas.microsoft.com/office/drawing/2014/main" id="{8CE1CCE0-5CBC-4A88-A660-642CDB2CE388}"/>
              </a:ext>
            </a:extLst>
          </p:cNvPr>
          <p:cNvSpPr>
            <a:spLocks xmlns:a="http://schemas.openxmlformats.org/drawingml/2006/main" noGrp="1"/>
          </p:cNvSpPr>
          <p:nvPr/>
        </p:nvSpPr>
        <p:spPr>
          <a:xfrm xmlns:a="http://schemas.openxmlformats.org/drawingml/2006/main">
            <a:off x="1028700" y="214312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i="0">
                <a:solidFill>
                  <a:srgbClr val="FFFFFF"/>
                </a:solidFill>
                <a:latin typeface="Arial"/>
                <a:ea typeface="Arial"/>
                <a:cs typeface="Arial"/>
              </a:defRPr>
            </a:pPr>
            <a:r>
              <a:rPr sz="1800" b="1" i="0">
                <a:solidFill>
                  <a:srgbClr val="FFFFFF"/>
                </a:solidFill>
                <a:latin typeface="Arial"/>
                <a:ea typeface="Arial"/>
                <a:cs typeface="Arial"/>
              </a:rPr>
              <a:t>C:\AAP-Demo-Workspace</a:t>
            </a:r>
          </a:p>
        </p:txBody>
      </p:sp>
      <p:sp>
        <p:nvSpPr>
          <p:cNvPr id="6" name="">
            <a:extLst xmlns:a="http://schemas.openxmlformats.org/drawingml/2006/main">
              <a:ext uri="{FF2B5EF4-FFF2-40B4-BE49-F238E27FC236}">
                <a16:creationId xmlns:a16="http://schemas.microsoft.com/office/drawing/2014/main" id="{2A145F6B-FE14-454A-B493-C01DB2E8AEC3}"/>
              </a:ext>
            </a:extLst>
          </p:cNvPr>
          <p:cNvSpPr>
            <a:spLocks xmlns:a="http://schemas.openxmlformats.org/drawingml/2006/main" noGrp="1"/>
          </p:cNvSpPr>
          <p:nvPr/>
        </p:nvSpPr>
        <p:spPr>
          <a:xfrm xmlns:a="http://schemas.openxmlformats.org/drawingml/2006/main">
            <a:off x="1028700" y="25527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i="0">
                <a:solidFill>
                  <a:srgbClr val="A9ADA6"/>
                </a:solidFill>
                <a:latin typeface="Arial"/>
                <a:ea typeface="Arial"/>
                <a:cs typeface="Arial"/>
              </a:defRPr>
            </a:pPr>
            <a:r>
              <a:rPr sz="1050" b="0" i="0">
                <a:solidFill>
                  <a:srgbClr val="A9ADA6"/>
                </a:solidFill>
                <a:latin typeface="Arial"/>
                <a:ea typeface="Arial"/>
                <a:cs typeface="Arial"/>
              </a:rPr>
              <a:t>Owned synthetic fixture</a:t>
            </a:r>
          </a:p>
        </p:txBody>
      </p:sp>
      <p:sp>
        <p:nvSpPr>
          <p:cNvPr id="7" name="">
            <a:extLst xmlns:a="http://schemas.openxmlformats.org/drawingml/2006/main">
              <a:ext uri="{FF2B5EF4-FFF2-40B4-BE49-F238E27FC236}">
                <a16:creationId xmlns:a16="http://schemas.microsoft.com/office/drawing/2014/main" id="{5AAED11E-C6DE-43AD-B8FA-8DBEA95CA614}"/>
              </a:ext>
            </a:extLst>
          </p:cNvPr>
          <p:cNvSpPr>
            <a:spLocks xmlns:a="http://schemas.openxmlformats.org/drawingml/2006/main" noGrp="1"/>
          </p:cNvSpPr>
          <p:nvPr/>
        </p:nvSpPr>
        <p:spPr>
          <a:xfrm xmlns:a="http://schemas.openxmlformats.org/drawingml/2006/main">
            <a:off x="1028700" y="3190875"/>
            <a:ext cx="15240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397ABC07-C9E2-44DC-B199-1785A58EEBE7}"/>
              </a:ext>
            </a:extLst>
          </p:cNvPr>
          <p:cNvSpPr>
            <a:spLocks xmlns:a="http://schemas.openxmlformats.org/drawingml/2006/main" noGrp="1"/>
          </p:cNvSpPr>
          <p:nvPr/>
        </p:nvSpPr>
        <p:spPr>
          <a:xfrm xmlns:a="http://schemas.openxmlformats.org/drawingml/2006/main">
            <a:off x="1123950" y="33051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171817"/>
                </a:solidFill>
                <a:latin typeface="Arial"/>
                <a:ea typeface="Arial"/>
                <a:cs typeface="Arial"/>
              </a:defRPr>
            </a:pPr>
            <a:r>
              <a:rPr sz="900" b="1" i="0">
                <a:solidFill>
                  <a:srgbClr val="171817"/>
                </a:solidFill>
                <a:latin typeface="Arial"/>
                <a:ea typeface="Arial"/>
                <a:cs typeface="Arial"/>
              </a:rPr>
              <a:t>list_directory</a:t>
            </a:r>
          </a:p>
        </p:txBody>
      </p:sp>
      <p:sp>
        <p:nvSpPr>
          <p:cNvPr id="9" name="">
            <a:extLst xmlns:a="http://schemas.openxmlformats.org/drawingml/2006/main">
              <a:ext uri="{FF2B5EF4-FFF2-40B4-BE49-F238E27FC236}">
                <a16:creationId xmlns:a16="http://schemas.microsoft.com/office/drawing/2014/main" id="{7C3B919E-104D-41B9-B55D-8B99AA878627}"/>
              </a:ext>
            </a:extLst>
          </p:cNvPr>
          <p:cNvSpPr>
            <a:spLocks xmlns:a="http://schemas.openxmlformats.org/drawingml/2006/main" noGrp="1"/>
          </p:cNvSpPr>
          <p:nvPr/>
        </p:nvSpPr>
        <p:spPr>
          <a:xfrm xmlns:a="http://schemas.openxmlformats.org/drawingml/2006/main">
            <a:off x="2838450" y="3190875"/>
            <a:ext cx="15240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4F9E96C2-06AD-4481-B2BC-DEFA1B65BD0F}"/>
              </a:ext>
            </a:extLst>
          </p:cNvPr>
          <p:cNvSpPr>
            <a:spLocks xmlns:a="http://schemas.openxmlformats.org/drawingml/2006/main" noGrp="1"/>
          </p:cNvSpPr>
          <p:nvPr/>
        </p:nvSpPr>
        <p:spPr>
          <a:xfrm xmlns:a="http://schemas.openxmlformats.org/drawingml/2006/main">
            <a:off x="2933700" y="33051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171817"/>
                </a:solidFill>
                <a:latin typeface="Arial"/>
                <a:ea typeface="Arial"/>
                <a:cs typeface="Arial"/>
              </a:defRPr>
            </a:pPr>
            <a:r>
              <a:rPr sz="900" b="1" i="0">
                <a:solidFill>
                  <a:srgbClr val="171817"/>
                </a:solidFill>
                <a:latin typeface="Arial"/>
                <a:ea typeface="Arial"/>
                <a:cs typeface="Arial"/>
              </a:rPr>
              <a:t>read_file</a:t>
            </a:r>
          </a:p>
        </p:txBody>
      </p:sp>
      <p:sp>
        <p:nvSpPr>
          <p:cNvPr id="11" name="">
            <a:extLst xmlns:a="http://schemas.openxmlformats.org/drawingml/2006/main">
              <a:ext uri="{FF2B5EF4-FFF2-40B4-BE49-F238E27FC236}">
                <a16:creationId xmlns:a16="http://schemas.microsoft.com/office/drawing/2014/main" id="{6BB80C47-2705-4F19-BB4D-218EEDB96137}"/>
              </a:ext>
            </a:extLst>
          </p:cNvPr>
          <p:cNvSpPr>
            <a:spLocks xmlns:a="http://schemas.openxmlformats.org/drawingml/2006/main" noGrp="1"/>
          </p:cNvSpPr>
          <p:nvPr/>
        </p:nvSpPr>
        <p:spPr>
          <a:xfrm xmlns:a="http://schemas.openxmlformats.org/drawingml/2006/main">
            <a:off x="1028700" y="3905250"/>
            <a:ext cx="15240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DD669AB1-361D-4FC2-B40D-A481D78CCD27}"/>
              </a:ext>
            </a:extLst>
          </p:cNvPr>
          <p:cNvSpPr>
            <a:spLocks xmlns:a="http://schemas.openxmlformats.org/drawingml/2006/main" noGrp="1"/>
          </p:cNvSpPr>
          <p:nvPr/>
        </p:nvSpPr>
        <p:spPr>
          <a:xfrm xmlns:a="http://schemas.openxmlformats.org/drawingml/2006/main">
            <a:off x="1123950" y="4019550"/>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171817"/>
                </a:solidFill>
                <a:latin typeface="Arial"/>
                <a:ea typeface="Arial"/>
                <a:cs typeface="Arial"/>
              </a:defRPr>
            </a:pPr>
            <a:r>
              <a:rPr sz="900" b="1" i="0">
                <a:solidFill>
                  <a:srgbClr val="171817"/>
                </a:solidFill>
                <a:latin typeface="Arial"/>
                <a:ea typeface="Arial"/>
                <a:cs typeface="Arial"/>
              </a:rPr>
              <a:t>create_directory</a:t>
            </a:r>
          </a:p>
        </p:txBody>
      </p:sp>
      <p:sp>
        <p:nvSpPr>
          <p:cNvPr id="13" name="">
            <a:extLst xmlns:a="http://schemas.openxmlformats.org/drawingml/2006/main">
              <a:ext uri="{FF2B5EF4-FFF2-40B4-BE49-F238E27FC236}">
                <a16:creationId xmlns:a16="http://schemas.microsoft.com/office/drawing/2014/main" id="{F989860C-E882-470E-9127-2223628743F1}"/>
              </a:ext>
            </a:extLst>
          </p:cNvPr>
          <p:cNvSpPr>
            <a:spLocks xmlns:a="http://schemas.openxmlformats.org/drawingml/2006/main" noGrp="1"/>
          </p:cNvSpPr>
          <p:nvPr/>
        </p:nvSpPr>
        <p:spPr>
          <a:xfrm xmlns:a="http://schemas.openxmlformats.org/drawingml/2006/main">
            <a:off x="2838450" y="3905250"/>
            <a:ext cx="15240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D3AEB0B4-1882-405F-B233-886D036D375B}"/>
              </a:ext>
            </a:extLst>
          </p:cNvPr>
          <p:cNvSpPr>
            <a:spLocks xmlns:a="http://schemas.openxmlformats.org/drawingml/2006/main" noGrp="1"/>
          </p:cNvSpPr>
          <p:nvPr/>
        </p:nvSpPr>
        <p:spPr>
          <a:xfrm xmlns:a="http://schemas.openxmlformats.org/drawingml/2006/main">
            <a:off x="2933700" y="4019550"/>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171817"/>
                </a:solidFill>
                <a:latin typeface="Arial"/>
                <a:ea typeface="Arial"/>
                <a:cs typeface="Arial"/>
              </a:defRPr>
            </a:pPr>
            <a:r>
              <a:rPr sz="900" b="1" i="0">
                <a:solidFill>
                  <a:srgbClr val="171817"/>
                </a:solidFill>
                <a:latin typeface="Arial"/>
                <a:ea typeface="Arial"/>
                <a:cs typeface="Arial"/>
              </a:rPr>
              <a:t>move_path</a:t>
            </a:r>
          </a:p>
        </p:txBody>
      </p:sp>
      <p:sp>
        <p:nvSpPr>
          <p:cNvPr id="15" name="">
            <a:extLst xmlns:a="http://schemas.openxmlformats.org/drawingml/2006/main">
              <a:ext uri="{FF2B5EF4-FFF2-40B4-BE49-F238E27FC236}">
                <a16:creationId xmlns:a16="http://schemas.microsoft.com/office/drawing/2014/main" id="{41B434F5-396D-4F48-9FDC-CE8EFA66E309}"/>
              </a:ext>
            </a:extLst>
          </p:cNvPr>
          <p:cNvSpPr>
            <a:spLocks xmlns:a="http://schemas.openxmlformats.org/drawingml/2006/main" noGrp="1"/>
          </p:cNvSpPr>
          <p:nvPr/>
        </p:nvSpPr>
        <p:spPr>
          <a:xfrm xmlns:a="http://schemas.openxmlformats.org/drawingml/2006/main">
            <a:off x="5857875" y="3286125"/>
            <a:ext cx="666750" cy="171450"/>
          </a:xfrm>
          <a:prstGeom xmlns:a="http://schemas.openxmlformats.org/drawingml/2006/main" prst="rightArrow">
            <a:avLst/>
          </a:prstGeom>
          <a:solidFill xmlns:a="http://schemas.openxmlformats.org/drawingml/2006/main">
            <a:srgbClr val="272A27"/>
          </a:solidFill>
          <a:ln xmlns:a="http://schemas.openxmlformats.org/drawingml/2006/main" w="0">
            <a:solidFill>
              <a:srgbClr val="272A27"/>
            </a:solidFill>
          </a:ln>
        </p:spPr>
      </p:sp>
      <p:sp>
        <p:nvSpPr>
          <p:cNvPr id="16" name="">
            <a:extLst xmlns:a="http://schemas.openxmlformats.org/drawingml/2006/main">
              <a:ext uri="{FF2B5EF4-FFF2-40B4-BE49-F238E27FC236}">
                <a16:creationId xmlns:a16="http://schemas.microsoft.com/office/drawing/2014/main" id="{77A172ED-586F-4D77-B98D-C9460E9AF6DE}"/>
              </a:ext>
            </a:extLst>
          </p:cNvPr>
          <p:cNvSpPr>
            <a:spLocks xmlns:a="http://schemas.openxmlformats.org/drawingml/2006/main" noGrp="1"/>
          </p:cNvSpPr>
          <p:nvPr/>
        </p:nvSpPr>
        <p:spPr>
          <a:xfrm xmlns:a="http://schemas.openxmlformats.org/drawingml/2006/main">
            <a:off x="6800850" y="207645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328"/>
          </a:bodyPr>
          <a:lstStyle xmlns:a="http://schemas.openxmlformats.org/drawingml/2006/main"/>
          <a:p xmlns:a="http://schemas.openxmlformats.org/drawingml/2006/main">
            <a:pPr>
              <a:defRPr sz="1725" b="1" i="0">
                <a:solidFill>
                  <a:srgbClr val="171817"/>
                </a:solidFill>
                <a:latin typeface="Arial"/>
                <a:ea typeface="Arial"/>
                <a:cs typeface="Arial"/>
              </a:defRPr>
            </a:pPr>
            <a:r>
              <a:rPr sz="1725" b="1" i="0">
                <a:solidFill>
                  <a:srgbClr val="171817"/>
                </a:solidFill>
                <a:latin typeface="Arial"/>
                <a:ea typeface="Arial"/>
                <a:cs typeface="Arial"/>
              </a:rPr>
              <a:t>Every request is checked before execution</a:t>
            </a:r>
          </a:p>
        </p:txBody>
      </p:sp>
      <p:sp>
        <p:nvSpPr>
          <p:cNvPr id="17" name="">
            <a:extLst xmlns:a="http://schemas.openxmlformats.org/drawingml/2006/main">
              <a:ext uri="{FF2B5EF4-FFF2-40B4-BE49-F238E27FC236}">
                <a16:creationId xmlns:a16="http://schemas.microsoft.com/office/drawing/2014/main" id="{BA712A6B-9C00-4324-BC11-E99EDF3AF2B8}"/>
              </a:ext>
            </a:extLst>
          </p:cNvPr>
          <p:cNvSpPr>
            <a:spLocks xmlns:a="http://schemas.openxmlformats.org/drawingml/2006/main" noGrp="1"/>
          </p:cNvSpPr>
          <p:nvPr/>
        </p:nvSpPr>
        <p:spPr>
          <a:xfrm xmlns:a="http://schemas.openxmlformats.org/drawingml/2006/main">
            <a:off x="6800850" y="2857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6C72910F-57FF-4FD8-ACBE-76F85BEFA7A1}"/>
              </a:ext>
            </a:extLst>
          </p:cNvPr>
          <p:cNvSpPr>
            <a:spLocks xmlns:a="http://schemas.openxmlformats.org/drawingml/2006/main" noGrp="1"/>
          </p:cNvSpPr>
          <p:nvPr/>
        </p:nvSpPr>
        <p:spPr>
          <a:xfrm xmlns:a="http://schemas.openxmlformats.org/drawingml/2006/main">
            <a:off x="7258050" y="2857500"/>
            <a:ext cx="3638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167"/>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Containment</a:t>
            </a:r>
          </a:p>
        </p:txBody>
      </p:sp>
      <p:sp>
        <p:nvSpPr>
          <p:cNvPr id="19" name="">
            <a:extLst xmlns:a="http://schemas.openxmlformats.org/drawingml/2006/main">
              <a:ext uri="{FF2B5EF4-FFF2-40B4-BE49-F238E27FC236}">
                <a16:creationId xmlns:a16="http://schemas.microsoft.com/office/drawing/2014/main" id="{4D1D08F1-F917-42DF-B3BE-612852656E75}"/>
              </a:ext>
            </a:extLst>
          </p:cNvPr>
          <p:cNvSpPr>
            <a:spLocks xmlns:a="http://schemas.openxmlformats.org/drawingml/2006/main" noGrp="1"/>
          </p:cNvSpPr>
          <p:nvPr/>
        </p:nvSpPr>
        <p:spPr>
          <a:xfrm xmlns:a="http://schemas.openxmlformats.org/drawingml/2006/main">
            <a:off x="7258050" y="3143250"/>
            <a:ext cx="3638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Relative paths cannot escape the workspace root.</a:t>
            </a:r>
          </a:p>
        </p:txBody>
      </p:sp>
      <p:sp>
        <p:nvSpPr>
          <p:cNvPr id="20" name="">
            <a:extLst xmlns:a="http://schemas.openxmlformats.org/drawingml/2006/main">
              <a:ext uri="{FF2B5EF4-FFF2-40B4-BE49-F238E27FC236}">
                <a16:creationId xmlns:a16="http://schemas.microsoft.com/office/drawing/2014/main" id="{FC77297F-5CFE-4AA2-8FBE-C90883392295}"/>
              </a:ext>
            </a:extLst>
          </p:cNvPr>
          <p:cNvSpPr>
            <a:spLocks xmlns:a="http://schemas.openxmlformats.org/drawingml/2006/main" noGrp="1"/>
          </p:cNvSpPr>
          <p:nvPr/>
        </p:nvSpPr>
        <p:spPr>
          <a:xfrm xmlns:a="http://schemas.openxmlformats.org/drawingml/2006/main">
            <a:off x="6800850" y="3810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02</a:t>
            </a:r>
          </a:p>
        </p:txBody>
      </p:sp>
      <p:sp>
        <p:nvSpPr>
          <p:cNvPr id="21" name="">
            <a:extLst xmlns:a="http://schemas.openxmlformats.org/drawingml/2006/main">
              <a:ext uri="{FF2B5EF4-FFF2-40B4-BE49-F238E27FC236}">
                <a16:creationId xmlns:a16="http://schemas.microsoft.com/office/drawing/2014/main" id="{5BF3E1B6-BE90-4240-8763-AF640B6F1697}"/>
              </a:ext>
            </a:extLst>
          </p:cNvPr>
          <p:cNvSpPr>
            <a:spLocks xmlns:a="http://schemas.openxmlformats.org/drawingml/2006/main" noGrp="1"/>
          </p:cNvSpPr>
          <p:nvPr/>
        </p:nvSpPr>
        <p:spPr>
          <a:xfrm xmlns:a="http://schemas.openxmlformats.org/drawingml/2006/main">
            <a:off x="7258050" y="3810000"/>
            <a:ext cx="3638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167"/>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Authority</a:t>
            </a:r>
          </a:p>
        </p:txBody>
      </p:sp>
      <p:sp>
        <p:nvSpPr>
          <p:cNvPr id="22" name="">
            <a:extLst xmlns:a="http://schemas.openxmlformats.org/drawingml/2006/main">
              <a:ext uri="{FF2B5EF4-FFF2-40B4-BE49-F238E27FC236}">
                <a16:creationId xmlns:a16="http://schemas.microsoft.com/office/drawing/2014/main" id="{902619C0-675B-474F-9E64-A40D460C6C67}"/>
              </a:ext>
            </a:extLst>
          </p:cNvPr>
          <p:cNvSpPr>
            <a:spLocks xmlns:a="http://schemas.openxmlformats.org/drawingml/2006/main" noGrp="1"/>
          </p:cNvSpPr>
          <p:nvPr/>
        </p:nvSpPr>
        <p:spPr>
          <a:xfrm xmlns:a="http://schemas.openxmlformats.org/drawingml/2006/main">
            <a:off x="7258050" y="4095750"/>
            <a:ext cx="3638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Destructive actions require explicit scenario authority.</a:t>
            </a:r>
          </a:p>
        </p:txBody>
      </p:sp>
      <p:sp>
        <p:nvSpPr>
          <p:cNvPr id="23" name="">
            <a:extLst xmlns:a="http://schemas.openxmlformats.org/drawingml/2006/main">
              <a:ext uri="{FF2B5EF4-FFF2-40B4-BE49-F238E27FC236}">
                <a16:creationId xmlns:a16="http://schemas.microsoft.com/office/drawing/2014/main" id="{4DB153A9-B18F-48BA-BE7F-0AA2126C951B}"/>
              </a:ext>
            </a:extLst>
          </p:cNvPr>
          <p:cNvSpPr>
            <a:spLocks xmlns:a="http://schemas.openxmlformats.org/drawingml/2006/main" noGrp="1"/>
          </p:cNvSpPr>
          <p:nvPr/>
        </p:nvSpPr>
        <p:spPr>
          <a:xfrm xmlns:a="http://schemas.openxmlformats.org/drawingml/2006/main">
            <a:off x="6800850" y="47625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DBAF2FB9-707F-4690-8C2C-4114099CFC46}"/>
              </a:ext>
            </a:extLst>
          </p:cNvPr>
          <p:cNvSpPr>
            <a:spLocks xmlns:a="http://schemas.openxmlformats.org/drawingml/2006/main" noGrp="1"/>
          </p:cNvSpPr>
          <p:nvPr/>
        </p:nvSpPr>
        <p:spPr>
          <a:xfrm xmlns:a="http://schemas.openxmlformats.org/drawingml/2006/main">
            <a:off x="7258050" y="4762500"/>
            <a:ext cx="3638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167"/>
          </a:bodyPr>
          <a:lstStyle xmlns:a="http://schemas.openxmlformats.org/drawingml/2006/main"/>
          <a:p xmlns:a="http://schemas.openxmlformats.org/drawingml/2006/main">
            <a:pPr>
              <a:defRPr sz="1500" b="1" i="0">
                <a:solidFill>
                  <a:srgbClr val="171817"/>
                </a:solidFill>
                <a:latin typeface="Arial"/>
                <a:ea typeface="Arial"/>
                <a:cs typeface="Arial"/>
              </a:defRPr>
            </a:pPr>
            <a:r>
              <a:rPr sz="1500" b="1" i="0">
                <a:solidFill>
                  <a:srgbClr val="171817"/>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6BCBD255-96AD-4F86-B857-8D03BA0B7DBC}"/>
              </a:ext>
            </a:extLst>
          </p:cNvPr>
          <p:cNvSpPr>
            <a:spLocks xmlns:a="http://schemas.openxmlformats.org/drawingml/2006/main" noGrp="1"/>
          </p:cNvSpPr>
          <p:nvPr/>
        </p:nvSpPr>
        <p:spPr>
          <a:xfrm xmlns:a="http://schemas.openxmlformats.org/drawingml/2006/main">
            <a:off x="7258050" y="5048250"/>
            <a:ext cx="3638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Tool requests, results, and snapshots are saved.</a:t>
            </a:r>
          </a:p>
        </p:txBody>
      </p:sp>
    </p:spTree>
    <p:extLst>
      <p:ext uri="{BB962C8B-B14F-4D97-AF65-F5344CB8AC3E}">
        <p14:creationId xmlns:p14="http://schemas.microsoft.com/office/powerpoint/2010/main" val="868492951"/>
      </p:ext>
    </p:extLst>
  </p:cSld>
</p:sld>
</file>

<file path=ppt/slides/slide8.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2BF1049-41CC-4486-8416-E1AAF27D06CE}"/>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02 / HOW IT WORKS</a:t>
            </a:r>
          </a:p>
        </p:txBody>
      </p:sp>
      <p:sp>
        <p:nvSpPr>
          <p:cNvPr id="2" name="">
            <a:extLst xmlns:a="http://schemas.openxmlformats.org/drawingml/2006/main">
              <a:ext uri="{FF2B5EF4-FFF2-40B4-BE49-F238E27FC236}">
                <a16:creationId xmlns:a16="http://schemas.microsoft.com/office/drawing/2014/main" id="{8BA4E71C-99B8-45EC-8515-8C6FF5F72BEF}"/>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The trace turns a run into a story</a:t>
            </a:r>
          </a:p>
        </p:txBody>
      </p:sp>
      <p:sp>
        <p:nvSpPr>
          <p:cNvPr id="3" name="">
            <a:extLst xmlns:a="http://schemas.openxmlformats.org/drawingml/2006/main">
              <a:ext uri="{FF2B5EF4-FFF2-40B4-BE49-F238E27FC236}">
                <a16:creationId xmlns:a16="http://schemas.microsoft.com/office/drawing/2014/main" id="{C3D4461D-D90B-44C6-AFDE-0E95FE8DEE63}"/>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08 — 12</a:t>
            </a:r>
          </a:p>
        </p:txBody>
      </p:sp>
      <p:sp>
        <p:nvSpPr>
          <p:cNvPr id="4" name="">
            <a:extLst xmlns:a="http://schemas.openxmlformats.org/drawingml/2006/main">
              <a:ext uri="{FF2B5EF4-FFF2-40B4-BE49-F238E27FC236}">
                <a16:creationId xmlns:a16="http://schemas.microsoft.com/office/drawing/2014/main" id="{71AB3A9E-C032-4B41-BFA9-56CF2A51BECE}"/>
              </a:ext>
            </a:extLst>
          </p:cNvPr>
          <p:cNvSpPr>
            <a:spLocks xmlns:a="http://schemas.openxmlformats.org/drawingml/2006/main" noGrp="1"/>
          </p:cNvSpPr>
          <p:nvPr/>
        </p:nvSpPr>
        <p:spPr>
          <a:xfrm xmlns:a="http://schemas.openxmlformats.org/drawingml/2006/main">
            <a:off x="685800" y="15430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i="0">
                <a:solidFill>
                  <a:srgbClr val="171817"/>
                </a:solidFill>
                <a:latin typeface="Arial"/>
                <a:ea typeface="Arial"/>
                <a:cs typeface="Arial"/>
              </a:defRPr>
            </a:pPr>
            <a:r>
              <a:rPr sz="1650" b="1" i="0">
                <a:solidFill>
                  <a:srgbClr val="171817"/>
                </a:solidFill>
                <a:latin typeface="Arial"/>
                <a:ea typeface="Arial"/>
                <a:cs typeface="Arial"/>
              </a:rPr>
              <a:t>A panel member can follow the same sequence the evaluator sees.</a:t>
            </a:r>
          </a:p>
        </p:txBody>
      </p:sp>
      <p:sp>
        <p:nvSpPr>
          <p:cNvPr id="5" name="">
            <a:extLst xmlns:a="http://schemas.openxmlformats.org/drawingml/2006/main">
              <a:ext uri="{FF2B5EF4-FFF2-40B4-BE49-F238E27FC236}">
                <a16:creationId xmlns:a16="http://schemas.microsoft.com/office/drawing/2014/main" id="{F094C580-CE28-4C70-9A8F-070C91ECA245}"/>
              </a:ext>
            </a:extLst>
          </p:cNvPr>
          <p:cNvSpPr>
            <a:spLocks xmlns:a="http://schemas.openxmlformats.org/drawingml/2006/main" noGrp="1"/>
          </p:cNvSpPr>
          <p:nvPr/>
        </p:nvSpPr>
        <p:spPr>
          <a:xfrm xmlns:a="http://schemas.openxmlformats.org/drawingml/2006/main">
            <a:off x="685800" y="266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151F836-D164-440C-8186-585797736F46}"/>
              </a:ext>
            </a:extLst>
          </p:cNvPr>
          <p:cNvSpPr>
            <a:spLocks xmlns:a="http://schemas.openxmlformats.org/drawingml/2006/main" noGrp="1"/>
          </p:cNvSpPr>
          <p:nvPr/>
        </p:nvSpPr>
        <p:spPr>
          <a:xfrm xmlns:a="http://schemas.openxmlformats.org/drawingml/2006/main">
            <a:off x="685800" y="3048000"/>
            <a:ext cx="1762125"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D8D9D4"/>
            </a:solidFill>
          </a:ln>
        </p:spPr>
      </p:sp>
      <p:sp>
        <p:nvSpPr>
          <p:cNvPr id="7" name="">
            <a:extLst xmlns:a="http://schemas.openxmlformats.org/drawingml/2006/main">
              <a:ext uri="{FF2B5EF4-FFF2-40B4-BE49-F238E27FC236}">
                <a16:creationId xmlns:a16="http://schemas.microsoft.com/office/drawing/2014/main" id="{EE5B68E6-F3EB-4256-9B49-AF80FD3A3671}"/>
              </a:ext>
            </a:extLst>
          </p:cNvPr>
          <p:cNvSpPr>
            <a:spLocks xmlns:a="http://schemas.openxmlformats.org/drawingml/2006/main" noGrp="1"/>
          </p:cNvSpPr>
          <p:nvPr/>
        </p:nvSpPr>
        <p:spPr>
          <a:xfrm xmlns:a="http://schemas.openxmlformats.org/drawingml/2006/main">
            <a:off x="838200" y="3257550"/>
            <a:ext cx="1457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90"/>
          </a:bodyPr>
          <a:lstStyle xmlns:a="http://schemas.openxmlformats.org/drawingml/2006/main"/>
          <a:p xmlns:a="http://schemas.openxmlformats.org/drawingml/2006/main">
            <a:pPr>
              <a:defRPr sz="1275" b="1" i="0">
                <a:solidFill>
                  <a:srgbClr val="171817"/>
                </a:solidFill>
                <a:latin typeface="Arial"/>
                <a:ea typeface="Arial"/>
                <a:cs typeface="Arial"/>
              </a:defRPr>
            </a:pPr>
            <a:r>
              <a:rPr sz="1275" b="1" i="0">
                <a:solidFill>
                  <a:srgbClr val="171817"/>
                </a:solidFill>
                <a:latin typeface="Arial"/>
                <a:ea typeface="Arial"/>
                <a:cs typeface="Arial"/>
              </a:rPr>
              <a:t>Instruction</a:t>
            </a:r>
          </a:p>
        </p:txBody>
      </p:sp>
      <p:sp>
        <p:nvSpPr>
          <p:cNvPr id="8" name="">
            <a:extLst xmlns:a="http://schemas.openxmlformats.org/drawingml/2006/main">
              <a:ext uri="{FF2B5EF4-FFF2-40B4-BE49-F238E27FC236}">
                <a16:creationId xmlns:a16="http://schemas.microsoft.com/office/drawing/2014/main" id="{B1FA5AD0-B3AF-48DA-BC86-1D39A2B8C37D}"/>
              </a:ext>
            </a:extLst>
          </p:cNvPr>
          <p:cNvSpPr>
            <a:spLocks xmlns:a="http://schemas.openxmlformats.org/drawingml/2006/main" noGrp="1"/>
          </p:cNvSpPr>
          <p:nvPr/>
        </p:nvSpPr>
        <p:spPr>
          <a:xfrm xmlns:a="http://schemas.openxmlformats.org/drawingml/2006/main">
            <a:off x="838200" y="3619500"/>
            <a:ext cx="145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62645F"/>
                </a:solidFill>
                <a:latin typeface="Arial"/>
                <a:ea typeface="Arial"/>
                <a:cs typeface="Arial"/>
              </a:defRPr>
            </a:pPr>
            <a:r>
              <a:rPr sz="900" b="0" i="0">
                <a:solidFill>
                  <a:srgbClr val="62645F"/>
                </a:solidFill>
                <a:latin typeface="Arial"/>
                <a:ea typeface="Arial"/>
                <a:cs typeface="Arial"/>
              </a:rPr>
              <a:t>What the user asked</a:t>
            </a:r>
          </a:p>
        </p:txBody>
      </p:sp>
      <p:sp>
        <p:nvSpPr>
          <p:cNvPr id="9" name="">
            <a:extLst xmlns:a="http://schemas.openxmlformats.org/drawingml/2006/main">
              <a:ext uri="{FF2B5EF4-FFF2-40B4-BE49-F238E27FC236}">
                <a16:creationId xmlns:a16="http://schemas.microsoft.com/office/drawing/2014/main" id="{C99BEF90-7CBA-41E6-993B-8C475A44B7F8}"/>
              </a:ext>
            </a:extLst>
          </p:cNvPr>
          <p:cNvSpPr>
            <a:spLocks xmlns:a="http://schemas.openxmlformats.org/drawingml/2006/main" noGrp="1"/>
          </p:cNvSpPr>
          <p:nvPr/>
        </p:nvSpPr>
        <p:spPr>
          <a:xfrm xmlns:a="http://schemas.openxmlformats.org/drawingml/2006/main">
            <a:off x="2505075" y="3495675"/>
            <a:ext cx="2095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0" name="">
            <a:extLst xmlns:a="http://schemas.openxmlformats.org/drawingml/2006/main">
              <a:ext uri="{FF2B5EF4-FFF2-40B4-BE49-F238E27FC236}">
                <a16:creationId xmlns:a16="http://schemas.microsoft.com/office/drawing/2014/main" id="{8052E631-E957-4438-ADB1-A23899A782DE}"/>
              </a:ext>
            </a:extLst>
          </p:cNvPr>
          <p:cNvSpPr>
            <a:spLocks xmlns:a="http://schemas.openxmlformats.org/drawingml/2006/main" noGrp="1"/>
          </p:cNvSpPr>
          <p:nvPr/>
        </p:nvSpPr>
        <p:spPr>
          <a:xfrm xmlns:a="http://schemas.openxmlformats.org/drawingml/2006/main">
            <a:off x="2867025" y="266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4AB8F2D-ADD5-4EFB-A4D2-618D97CCF5DB}"/>
              </a:ext>
            </a:extLst>
          </p:cNvPr>
          <p:cNvSpPr>
            <a:spLocks xmlns:a="http://schemas.openxmlformats.org/drawingml/2006/main" noGrp="1"/>
          </p:cNvSpPr>
          <p:nvPr/>
        </p:nvSpPr>
        <p:spPr>
          <a:xfrm xmlns:a="http://schemas.openxmlformats.org/drawingml/2006/main">
            <a:off x="2867025" y="3048000"/>
            <a:ext cx="1762125"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D8D9D4"/>
            </a:solidFill>
          </a:ln>
        </p:spPr>
      </p:sp>
      <p:sp>
        <p:nvSpPr>
          <p:cNvPr id="12" name="">
            <a:extLst xmlns:a="http://schemas.openxmlformats.org/drawingml/2006/main">
              <a:ext uri="{FF2B5EF4-FFF2-40B4-BE49-F238E27FC236}">
                <a16:creationId xmlns:a16="http://schemas.microsoft.com/office/drawing/2014/main" id="{10D846BD-03CF-47D5-A3AF-8D3C30232C50}"/>
              </a:ext>
            </a:extLst>
          </p:cNvPr>
          <p:cNvSpPr>
            <a:spLocks xmlns:a="http://schemas.openxmlformats.org/drawingml/2006/main" noGrp="1"/>
          </p:cNvSpPr>
          <p:nvPr/>
        </p:nvSpPr>
        <p:spPr>
          <a:xfrm xmlns:a="http://schemas.openxmlformats.org/drawingml/2006/main">
            <a:off x="3019425" y="3257550"/>
            <a:ext cx="1457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90"/>
          </a:bodyPr>
          <a:lstStyle xmlns:a="http://schemas.openxmlformats.org/drawingml/2006/main"/>
          <a:p xmlns:a="http://schemas.openxmlformats.org/drawingml/2006/main">
            <a:pPr>
              <a:defRPr sz="1275" b="1" i="0">
                <a:solidFill>
                  <a:srgbClr val="171817"/>
                </a:solidFill>
                <a:latin typeface="Arial"/>
                <a:ea typeface="Arial"/>
                <a:cs typeface="Arial"/>
              </a:defRPr>
            </a:pPr>
            <a:r>
              <a:rPr sz="1275" b="1" i="0">
                <a:solidFill>
                  <a:srgbClr val="171817"/>
                </a:solidFill>
                <a:latin typeface="Arial"/>
                <a:ea typeface="Arial"/>
                <a:cs typeface="Arial"/>
              </a:rPr>
              <a:t>Tool request</a:t>
            </a:r>
          </a:p>
        </p:txBody>
      </p:sp>
      <p:sp>
        <p:nvSpPr>
          <p:cNvPr id="13" name="">
            <a:extLst xmlns:a="http://schemas.openxmlformats.org/drawingml/2006/main">
              <a:ext uri="{FF2B5EF4-FFF2-40B4-BE49-F238E27FC236}">
                <a16:creationId xmlns:a16="http://schemas.microsoft.com/office/drawing/2014/main" id="{254F72B8-0396-4941-BE53-AE1595C89657}"/>
              </a:ext>
            </a:extLst>
          </p:cNvPr>
          <p:cNvSpPr>
            <a:spLocks xmlns:a="http://schemas.openxmlformats.org/drawingml/2006/main" noGrp="1"/>
          </p:cNvSpPr>
          <p:nvPr/>
        </p:nvSpPr>
        <p:spPr>
          <a:xfrm xmlns:a="http://schemas.openxmlformats.org/drawingml/2006/main">
            <a:off x="3019425" y="3619500"/>
            <a:ext cx="145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37"/>
          </a:bodyPr>
          <a:lstStyle xmlns:a="http://schemas.openxmlformats.org/drawingml/2006/main"/>
          <a:p xmlns:a="http://schemas.openxmlformats.org/drawingml/2006/main">
            <a:pPr>
              <a:defRPr sz="900" b="0" i="0">
                <a:solidFill>
                  <a:srgbClr val="62645F"/>
                </a:solidFill>
                <a:latin typeface="Arial"/>
                <a:ea typeface="Arial"/>
                <a:cs typeface="Arial"/>
              </a:defRPr>
            </a:pPr>
            <a:r>
              <a:rPr sz="900" b="0" i="0">
                <a:solidFill>
                  <a:srgbClr val="62645F"/>
                </a:solidFill>
                <a:latin typeface="Arial"/>
                <a:ea typeface="Arial"/>
                <a:cs typeface="Arial"/>
              </a:rPr>
              <a:t>What the agent attempted</a:t>
            </a:r>
          </a:p>
        </p:txBody>
      </p:sp>
      <p:sp>
        <p:nvSpPr>
          <p:cNvPr id="14" name="">
            <a:extLst xmlns:a="http://schemas.openxmlformats.org/drawingml/2006/main">
              <a:ext uri="{FF2B5EF4-FFF2-40B4-BE49-F238E27FC236}">
                <a16:creationId xmlns:a16="http://schemas.microsoft.com/office/drawing/2014/main" id="{F0722FAF-6C0C-42CE-A12A-D452386BC7EA}"/>
              </a:ext>
            </a:extLst>
          </p:cNvPr>
          <p:cNvSpPr>
            <a:spLocks xmlns:a="http://schemas.openxmlformats.org/drawingml/2006/main" noGrp="1"/>
          </p:cNvSpPr>
          <p:nvPr/>
        </p:nvSpPr>
        <p:spPr>
          <a:xfrm xmlns:a="http://schemas.openxmlformats.org/drawingml/2006/main">
            <a:off x="4686300" y="3495675"/>
            <a:ext cx="2095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15" name="">
            <a:extLst xmlns:a="http://schemas.openxmlformats.org/drawingml/2006/main">
              <a:ext uri="{FF2B5EF4-FFF2-40B4-BE49-F238E27FC236}">
                <a16:creationId xmlns:a16="http://schemas.microsoft.com/office/drawing/2014/main" id="{463DEE5A-CA34-40D7-B8CA-E5B69F5732CB}"/>
              </a:ext>
            </a:extLst>
          </p:cNvPr>
          <p:cNvSpPr>
            <a:spLocks xmlns:a="http://schemas.openxmlformats.org/drawingml/2006/main" noGrp="1"/>
          </p:cNvSpPr>
          <p:nvPr/>
        </p:nvSpPr>
        <p:spPr>
          <a:xfrm xmlns:a="http://schemas.openxmlformats.org/drawingml/2006/main">
            <a:off x="5048250" y="266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9E13772-EF2E-43B8-9089-ED520AC1B0EB}"/>
              </a:ext>
            </a:extLst>
          </p:cNvPr>
          <p:cNvSpPr>
            <a:spLocks xmlns:a="http://schemas.openxmlformats.org/drawingml/2006/main" noGrp="1"/>
          </p:cNvSpPr>
          <p:nvPr/>
        </p:nvSpPr>
        <p:spPr>
          <a:xfrm xmlns:a="http://schemas.openxmlformats.org/drawingml/2006/main">
            <a:off x="5048250" y="3048000"/>
            <a:ext cx="1762125"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D8D9D4"/>
            </a:solidFill>
          </a:ln>
        </p:spPr>
      </p:sp>
      <p:sp>
        <p:nvSpPr>
          <p:cNvPr id="17" name="">
            <a:extLst xmlns:a="http://schemas.openxmlformats.org/drawingml/2006/main">
              <a:ext uri="{FF2B5EF4-FFF2-40B4-BE49-F238E27FC236}">
                <a16:creationId xmlns:a16="http://schemas.microsoft.com/office/drawing/2014/main" id="{1DB73B64-AD13-4BA7-BB9F-5E7E0777B86A}"/>
              </a:ext>
            </a:extLst>
          </p:cNvPr>
          <p:cNvSpPr>
            <a:spLocks xmlns:a="http://schemas.openxmlformats.org/drawingml/2006/main" noGrp="1"/>
          </p:cNvSpPr>
          <p:nvPr/>
        </p:nvSpPr>
        <p:spPr>
          <a:xfrm xmlns:a="http://schemas.openxmlformats.org/drawingml/2006/main">
            <a:off x="5200650" y="3257550"/>
            <a:ext cx="1457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90"/>
          </a:bodyPr>
          <a:lstStyle xmlns:a="http://schemas.openxmlformats.org/drawingml/2006/main"/>
          <a:p xmlns:a="http://schemas.openxmlformats.org/drawingml/2006/main">
            <a:pPr>
              <a:defRPr sz="1275" b="1" i="0">
                <a:solidFill>
                  <a:srgbClr val="171817"/>
                </a:solidFill>
                <a:latin typeface="Arial"/>
                <a:ea typeface="Arial"/>
                <a:cs typeface="Arial"/>
              </a:defRPr>
            </a:pPr>
            <a:r>
              <a:rPr sz="1275" b="1" i="0">
                <a:solidFill>
                  <a:srgbClr val="171817"/>
                </a:solidFill>
                <a:latin typeface="Arial"/>
                <a:ea typeface="Arial"/>
                <a:cs typeface="Arial"/>
              </a:rPr>
              <a:t>Tool result</a:t>
            </a:r>
          </a:p>
        </p:txBody>
      </p:sp>
      <p:sp>
        <p:nvSpPr>
          <p:cNvPr id="18" name="">
            <a:extLst xmlns:a="http://schemas.openxmlformats.org/drawingml/2006/main">
              <a:ext uri="{FF2B5EF4-FFF2-40B4-BE49-F238E27FC236}">
                <a16:creationId xmlns:a16="http://schemas.microsoft.com/office/drawing/2014/main" id="{CD8073A9-74B7-4608-B2F8-F1DC74B9D0DB}"/>
              </a:ext>
            </a:extLst>
          </p:cNvPr>
          <p:cNvSpPr>
            <a:spLocks xmlns:a="http://schemas.openxmlformats.org/drawingml/2006/main" noGrp="1"/>
          </p:cNvSpPr>
          <p:nvPr/>
        </p:nvSpPr>
        <p:spPr>
          <a:xfrm xmlns:a="http://schemas.openxmlformats.org/drawingml/2006/main">
            <a:off x="5200650" y="3619500"/>
            <a:ext cx="145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0" i="0">
                <a:solidFill>
                  <a:srgbClr val="62645F"/>
                </a:solidFill>
                <a:latin typeface="Arial"/>
                <a:ea typeface="Arial"/>
                <a:cs typeface="Arial"/>
              </a:defRPr>
            </a:pPr>
            <a:r>
              <a:rPr sz="900" b="0" i="0">
                <a:solidFill>
                  <a:srgbClr val="62645F"/>
                </a:solidFill>
                <a:latin typeface="Arial"/>
                <a:ea typeface="Arial"/>
                <a:cs typeface="Arial"/>
              </a:rPr>
              <a:t>What the guard returned</a:t>
            </a:r>
          </a:p>
        </p:txBody>
      </p:sp>
      <p:sp>
        <p:nvSpPr>
          <p:cNvPr id="19" name="">
            <a:extLst xmlns:a="http://schemas.openxmlformats.org/drawingml/2006/main">
              <a:ext uri="{FF2B5EF4-FFF2-40B4-BE49-F238E27FC236}">
                <a16:creationId xmlns:a16="http://schemas.microsoft.com/office/drawing/2014/main" id="{B52D39FD-6AE3-4F96-A82D-062CB21B7B18}"/>
              </a:ext>
            </a:extLst>
          </p:cNvPr>
          <p:cNvSpPr>
            <a:spLocks xmlns:a="http://schemas.openxmlformats.org/drawingml/2006/main" noGrp="1"/>
          </p:cNvSpPr>
          <p:nvPr/>
        </p:nvSpPr>
        <p:spPr>
          <a:xfrm xmlns:a="http://schemas.openxmlformats.org/drawingml/2006/main">
            <a:off x="6867525" y="3495675"/>
            <a:ext cx="2095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20" name="">
            <a:extLst xmlns:a="http://schemas.openxmlformats.org/drawingml/2006/main">
              <a:ext uri="{FF2B5EF4-FFF2-40B4-BE49-F238E27FC236}">
                <a16:creationId xmlns:a16="http://schemas.microsoft.com/office/drawing/2014/main" id="{466F09F4-F153-4772-9AF6-02647DD6FA1B}"/>
              </a:ext>
            </a:extLst>
          </p:cNvPr>
          <p:cNvSpPr>
            <a:spLocks xmlns:a="http://schemas.openxmlformats.org/drawingml/2006/main" noGrp="1"/>
          </p:cNvSpPr>
          <p:nvPr/>
        </p:nvSpPr>
        <p:spPr>
          <a:xfrm xmlns:a="http://schemas.openxmlformats.org/drawingml/2006/main">
            <a:off x="7229475" y="266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734B0DE3-778A-4891-A128-CFEFE40C47B6}"/>
              </a:ext>
            </a:extLst>
          </p:cNvPr>
          <p:cNvSpPr>
            <a:spLocks xmlns:a="http://schemas.openxmlformats.org/drawingml/2006/main" noGrp="1"/>
          </p:cNvSpPr>
          <p:nvPr/>
        </p:nvSpPr>
        <p:spPr>
          <a:xfrm xmlns:a="http://schemas.openxmlformats.org/drawingml/2006/main">
            <a:off x="7229475" y="3048000"/>
            <a:ext cx="1762125" cy="1095375"/>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9525">
            <a:solidFill>
              <a:srgbClr val="D8D9D4"/>
            </a:solidFill>
          </a:ln>
        </p:spPr>
      </p:sp>
      <p:sp>
        <p:nvSpPr>
          <p:cNvPr id="22" name="">
            <a:extLst xmlns:a="http://schemas.openxmlformats.org/drawingml/2006/main">
              <a:ext uri="{FF2B5EF4-FFF2-40B4-BE49-F238E27FC236}">
                <a16:creationId xmlns:a16="http://schemas.microsoft.com/office/drawing/2014/main" id="{6A39A80A-E7F8-4AB2-969C-1C470907667D}"/>
              </a:ext>
            </a:extLst>
          </p:cNvPr>
          <p:cNvSpPr>
            <a:spLocks xmlns:a="http://schemas.openxmlformats.org/drawingml/2006/main" noGrp="1"/>
          </p:cNvSpPr>
          <p:nvPr/>
        </p:nvSpPr>
        <p:spPr>
          <a:xfrm xmlns:a="http://schemas.openxmlformats.org/drawingml/2006/main">
            <a:off x="7381875" y="3257550"/>
            <a:ext cx="1457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90"/>
          </a:bodyPr>
          <a:lstStyle xmlns:a="http://schemas.openxmlformats.org/drawingml/2006/main"/>
          <a:p xmlns:a="http://schemas.openxmlformats.org/drawingml/2006/main">
            <a:pPr>
              <a:defRPr sz="1275" b="1" i="0">
                <a:solidFill>
                  <a:srgbClr val="171817"/>
                </a:solidFill>
                <a:latin typeface="Arial"/>
                <a:ea typeface="Arial"/>
                <a:cs typeface="Arial"/>
              </a:defRPr>
            </a:pPr>
            <a:r>
              <a:rPr sz="1275" b="1" i="0">
                <a:solidFill>
                  <a:srgbClr val="171817"/>
                </a:solidFill>
                <a:latin typeface="Arial"/>
                <a:ea typeface="Arial"/>
                <a:cs typeface="Arial"/>
              </a:rPr>
              <a:t>Snapshots</a:t>
            </a:r>
          </a:p>
        </p:txBody>
      </p:sp>
      <p:sp>
        <p:nvSpPr>
          <p:cNvPr id="23" name="">
            <a:extLst xmlns:a="http://schemas.openxmlformats.org/drawingml/2006/main">
              <a:ext uri="{FF2B5EF4-FFF2-40B4-BE49-F238E27FC236}">
                <a16:creationId xmlns:a16="http://schemas.microsoft.com/office/drawing/2014/main" id="{B672D16A-9BBF-4A7A-8C98-6485AC9CED72}"/>
              </a:ext>
            </a:extLst>
          </p:cNvPr>
          <p:cNvSpPr>
            <a:spLocks xmlns:a="http://schemas.openxmlformats.org/drawingml/2006/main" noGrp="1"/>
          </p:cNvSpPr>
          <p:nvPr/>
        </p:nvSpPr>
        <p:spPr>
          <a:xfrm xmlns:a="http://schemas.openxmlformats.org/drawingml/2006/main">
            <a:off x="7381875" y="3619500"/>
            <a:ext cx="145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250"/>
          </a:bodyPr>
          <a:lstStyle xmlns:a="http://schemas.openxmlformats.org/drawingml/2006/main"/>
          <a:p xmlns:a="http://schemas.openxmlformats.org/drawingml/2006/main">
            <a:pPr>
              <a:defRPr sz="900" b="0" i="0">
                <a:solidFill>
                  <a:srgbClr val="62645F"/>
                </a:solidFill>
                <a:latin typeface="Arial"/>
                <a:ea typeface="Arial"/>
                <a:cs typeface="Arial"/>
              </a:defRPr>
            </a:pPr>
            <a:r>
              <a:rPr sz="900" b="0" i="0">
                <a:solidFill>
                  <a:srgbClr val="62645F"/>
                </a:solidFill>
                <a:latin typeface="Arial"/>
                <a:ea typeface="Arial"/>
                <a:cs typeface="Arial"/>
              </a:rPr>
              <a:t>What changed before and after</a:t>
            </a:r>
          </a:p>
        </p:txBody>
      </p:sp>
      <p:sp>
        <p:nvSpPr>
          <p:cNvPr id="24" name="">
            <a:extLst xmlns:a="http://schemas.openxmlformats.org/drawingml/2006/main">
              <a:ext uri="{FF2B5EF4-FFF2-40B4-BE49-F238E27FC236}">
                <a16:creationId xmlns:a16="http://schemas.microsoft.com/office/drawing/2014/main" id="{6CA55EB7-9A53-4037-932D-E4129A361D05}"/>
              </a:ext>
            </a:extLst>
          </p:cNvPr>
          <p:cNvSpPr>
            <a:spLocks xmlns:a="http://schemas.openxmlformats.org/drawingml/2006/main" noGrp="1"/>
          </p:cNvSpPr>
          <p:nvPr/>
        </p:nvSpPr>
        <p:spPr>
          <a:xfrm xmlns:a="http://schemas.openxmlformats.org/drawingml/2006/main">
            <a:off x="9048750" y="3495675"/>
            <a:ext cx="209550" cy="171450"/>
          </a:xfrm>
          <a:prstGeom xmlns:a="http://schemas.openxmlformats.org/drawingml/2006/main" prst="rightArrow">
            <a:avLst/>
          </a:prstGeom>
          <a:solidFill xmlns:a="http://schemas.openxmlformats.org/drawingml/2006/main">
            <a:srgbClr val="A9ADA6"/>
          </a:solidFill>
          <a:ln xmlns:a="http://schemas.openxmlformats.org/drawingml/2006/main" w="0">
            <a:solidFill>
              <a:srgbClr val="A9ADA6"/>
            </a:solidFill>
          </a:ln>
        </p:spPr>
      </p:sp>
      <p:sp>
        <p:nvSpPr>
          <p:cNvPr id="25" name="">
            <a:extLst xmlns:a="http://schemas.openxmlformats.org/drawingml/2006/main">
              <a:ext uri="{FF2B5EF4-FFF2-40B4-BE49-F238E27FC236}">
                <a16:creationId xmlns:a16="http://schemas.microsoft.com/office/drawing/2014/main" id="{6B2BDC34-63BA-4244-B9A6-BCFB4F9D4BEA}"/>
              </a:ext>
            </a:extLst>
          </p:cNvPr>
          <p:cNvSpPr>
            <a:spLocks xmlns:a="http://schemas.openxmlformats.org/drawingml/2006/main" noGrp="1"/>
          </p:cNvSpPr>
          <p:nvPr/>
        </p:nvSpPr>
        <p:spPr>
          <a:xfrm xmlns:a="http://schemas.openxmlformats.org/drawingml/2006/main">
            <a:off x="9410700" y="266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36036C9C-D961-401B-8897-7942B4469921}"/>
              </a:ext>
            </a:extLst>
          </p:cNvPr>
          <p:cNvSpPr>
            <a:spLocks xmlns:a="http://schemas.openxmlformats.org/drawingml/2006/main" noGrp="1"/>
          </p:cNvSpPr>
          <p:nvPr/>
        </p:nvSpPr>
        <p:spPr>
          <a:xfrm xmlns:a="http://schemas.openxmlformats.org/drawingml/2006/main">
            <a:off x="9410700" y="3048000"/>
            <a:ext cx="1762125" cy="1095375"/>
          </a:xfrm>
          <a:prstGeom xmlns:a="http://schemas.openxmlformats.org/drawingml/2006/main" prst="roundRect">
            <a:avLst>
              <a:gd name="adj" fmla="val 10435"/>
            </a:avLst>
          </a:prstGeom>
          <a:solidFill xmlns:a="http://schemas.openxmlformats.org/drawingml/2006/main">
            <a:srgbClr val="272A27"/>
          </a:solidFill>
          <a:ln xmlns:a="http://schemas.openxmlformats.org/drawingml/2006/main" w="9525">
            <a:solidFill>
              <a:srgbClr val="272A27"/>
            </a:solidFill>
          </a:ln>
        </p:spPr>
      </p:sp>
      <p:sp>
        <p:nvSpPr>
          <p:cNvPr id="27" name="">
            <a:extLst xmlns:a="http://schemas.openxmlformats.org/drawingml/2006/main">
              <a:ext uri="{FF2B5EF4-FFF2-40B4-BE49-F238E27FC236}">
                <a16:creationId xmlns:a16="http://schemas.microsoft.com/office/drawing/2014/main" id="{BDF0EC4D-433E-4E7E-9595-64B465CE60CE}"/>
              </a:ext>
            </a:extLst>
          </p:cNvPr>
          <p:cNvSpPr>
            <a:spLocks xmlns:a="http://schemas.openxmlformats.org/drawingml/2006/main" noGrp="1"/>
          </p:cNvSpPr>
          <p:nvPr/>
        </p:nvSpPr>
        <p:spPr>
          <a:xfrm xmlns:a="http://schemas.openxmlformats.org/drawingml/2006/main">
            <a:off x="9563100" y="3257550"/>
            <a:ext cx="1457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490"/>
          </a:bodyPr>
          <a:lstStyle xmlns:a="http://schemas.openxmlformats.org/drawingml/2006/main"/>
          <a:p xmlns:a="http://schemas.openxmlformats.org/drawingml/2006/main">
            <a:pPr>
              <a:defRPr sz="1275" b="1" i="0">
                <a:solidFill>
                  <a:srgbClr val="FFFFFF"/>
                </a:solidFill>
                <a:latin typeface="Arial"/>
                <a:ea typeface="Arial"/>
                <a:cs typeface="Arial"/>
              </a:defRPr>
            </a:pPr>
            <a:r>
              <a:rPr sz="1275" b="1" i="0">
                <a:solidFill>
                  <a:srgbClr val="FFFFFF"/>
                </a:solidFill>
                <a:latin typeface="Arial"/>
                <a:ea typeface="Arial"/>
                <a:cs typeface="Arial"/>
              </a:rPr>
              <a:t>Verdict</a:t>
            </a:r>
          </a:p>
        </p:txBody>
      </p:sp>
      <p:sp>
        <p:nvSpPr>
          <p:cNvPr id="28" name="">
            <a:extLst xmlns:a="http://schemas.openxmlformats.org/drawingml/2006/main">
              <a:ext uri="{FF2B5EF4-FFF2-40B4-BE49-F238E27FC236}">
                <a16:creationId xmlns:a16="http://schemas.microsoft.com/office/drawing/2014/main" id="{47897648-B49A-4B77-A8A1-2EDF1E75B352}"/>
              </a:ext>
            </a:extLst>
          </p:cNvPr>
          <p:cNvSpPr>
            <a:spLocks xmlns:a="http://schemas.openxmlformats.org/drawingml/2006/main" noGrp="1"/>
          </p:cNvSpPr>
          <p:nvPr/>
        </p:nvSpPr>
        <p:spPr>
          <a:xfrm xmlns:a="http://schemas.openxmlformats.org/drawingml/2006/main">
            <a:off x="9563100" y="3619500"/>
            <a:ext cx="1457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54"/>
          </a:bodyPr>
          <a:lstStyle xmlns:a="http://schemas.openxmlformats.org/drawingml/2006/main"/>
          <a:p xmlns:a="http://schemas.openxmlformats.org/drawingml/2006/main">
            <a:pPr>
              <a:defRPr sz="900" b="0" i="0">
                <a:solidFill>
                  <a:srgbClr val="E9EAE5"/>
                </a:solidFill>
                <a:latin typeface="Arial"/>
                <a:ea typeface="Arial"/>
                <a:cs typeface="Arial"/>
              </a:defRPr>
            </a:pPr>
            <a:r>
              <a:rPr sz="900" b="0" i="0">
                <a:solidFill>
                  <a:srgbClr val="E9EAE5"/>
                </a:solidFill>
                <a:latin typeface="Arial"/>
                <a:ea typeface="Arial"/>
                <a:cs typeface="Arial"/>
              </a:rPr>
              <a:t>What the evidence supports</a:t>
            </a:r>
          </a:p>
        </p:txBody>
      </p:sp>
      <p:sp>
        <p:nvSpPr>
          <p:cNvPr id="29" name="">
            <a:extLst xmlns:a="http://schemas.openxmlformats.org/drawingml/2006/main">
              <a:ext uri="{FF2B5EF4-FFF2-40B4-BE49-F238E27FC236}">
                <a16:creationId xmlns:a16="http://schemas.microsoft.com/office/drawing/2014/main" id="{C31D5049-4758-40B1-B919-FDDC700FDF09}"/>
              </a:ext>
            </a:extLst>
          </p:cNvPr>
          <p:cNvSpPr>
            <a:spLocks xmlns:a="http://schemas.openxmlformats.org/drawingml/2006/main" noGrp="1"/>
          </p:cNvSpPr>
          <p:nvPr/>
        </p:nvSpPr>
        <p:spPr>
          <a:xfrm xmlns:a="http://schemas.openxmlformats.org/drawingml/2006/main">
            <a:off x="685800" y="4714875"/>
            <a:ext cx="10820400" cy="0"/>
          </a:xfrm>
          <a:prstGeom xmlns:a="http://schemas.openxmlformats.org/drawingml/2006/main" prst="line">
            <a:avLst/>
          </a:prstGeom>
          <a:ln xmlns:a="http://schemas.openxmlformats.org/drawingml/2006/main" w="9525">
            <a:solidFill>
              <a:srgbClr val="D8D9D4"/>
            </a:solidFill>
          </a:ln>
        </p:spPr>
      </p:sp>
      <p:sp>
        <p:nvSpPr>
          <p:cNvPr id="30" name="">
            <a:extLst xmlns:a="http://schemas.openxmlformats.org/drawingml/2006/main">
              <a:ext uri="{FF2B5EF4-FFF2-40B4-BE49-F238E27FC236}">
                <a16:creationId xmlns:a16="http://schemas.microsoft.com/office/drawing/2014/main" id="{5B22A153-A1A3-46A4-9334-FF755561510B}"/>
              </a:ext>
            </a:extLst>
          </p:cNvPr>
          <p:cNvSpPr>
            <a:spLocks xmlns:a="http://schemas.openxmlformats.org/drawingml/2006/main" noGrp="1"/>
          </p:cNvSpPr>
          <p:nvPr/>
        </p:nvSpPr>
        <p:spPr>
          <a:xfrm xmlns:a="http://schemas.openxmlformats.org/drawingml/2006/main">
            <a:off x="685800" y="5095875"/>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62645F"/>
                </a:solidFill>
                <a:latin typeface="Arial"/>
                <a:ea typeface="Arial"/>
                <a:cs typeface="Arial"/>
              </a:defRPr>
            </a:pPr>
            <a:r>
              <a:rPr sz="1425" b="0" i="0">
                <a:solidFill>
                  <a:srgbClr val="62645F"/>
                </a:solidFill>
                <a:latin typeface="Arial"/>
                <a:ea typeface="Arial"/>
                <a:cs typeface="Arial"/>
              </a:rPr>
              <a:t>The report keeps technical evidence available, then explains it in plain language.</a:t>
            </a:r>
          </a:p>
        </p:txBody>
      </p:sp>
    </p:spTree>
    <p:extLst>
      <p:ext uri="{BB962C8B-B14F-4D97-AF65-F5344CB8AC3E}">
        <p14:creationId xmlns:p14="http://schemas.microsoft.com/office/powerpoint/2010/main" val="49935272"/>
      </p:ext>
    </p:extLst>
  </p:cSld>
</p:sld>
</file>

<file path=ppt/slides/slide9.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F41F3CE-FD3E-4215-94CB-B6E5E8FA2D07}"/>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03 / METRICS</a:t>
            </a:r>
          </a:p>
        </p:txBody>
      </p:sp>
      <p:sp>
        <p:nvSpPr>
          <p:cNvPr id="2" name="">
            <a:extLst xmlns:a="http://schemas.openxmlformats.org/drawingml/2006/main">
              <a:ext uri="{FF2B5EF4-FFF2-40B4-BE49-F238E27FC236}">
                <a16:creationId xmlns:a16="http://schemas.microsoft.com/office/drawing/2014/main" id="{D2D68845-FA8E-4FF0-8D32-B3DF98D6D238}"/>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Four signals separate reliability from appearance</a:t>
            </a:r>
          </a:p>
        </p:txBody>
      </p:sp>
      <p:sp>
        <p:nvSpPr>
          <p:cNvPr id="3" name="">
            <a:extLst xmlns:a="http://schemas.openxmlformats.org/drawingml/2006/main">
              <a:ext uri="{FF2B5EF4-FFF2-40B4-BE49-F238E27FC236}">
                <a16:creationId xmlns:a16="http://schemas.microsoft.com/office/drawing/2014/main" id="{82CD73BF-D8B2-41EE-BE0D-56CCD6C7C097}"/>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09 — 12</a:t>
            </a:r>
          </a:p>
        </p:txBody>
      </p:sp>
      <p:sp>
        <p:nvSpPr>
          <p:cNvPr id="4" name="">
            <a:extLst xmlns:a="http://schemas.openxmlformats.org/drawingml/2006/main">
              <a:ext uri="{FF2B5EF4-FFF2-40B4-BE49-F238E27FC236}">
                <a16:creationId xmlns:a16="http://schemas.microsoft.com/office/drawing/2014/main" id="{3BE2CE91-CD2D-4B56-9DC1-7CE6830BA1E3}"/>
              </a:ext>
            </a:extLst>
          </p:cNvPr>
          <p:cNvSpPr>
            <a:spLocks xmlns:a="http://schemas.openxmlformats.org/drawingml/2006/main" noGrp="1"/>
          </p:cNvSpPr>
          <p:nvPr/>
        </p:nvSpPr>
        <p:spPr>
          <a:xfrm xmlns:a="http://schemas.openxmlformats.org/drawingml/2006/main">
            <a:off x="685800" y="1809750"/>
            <a:ext cx="5334000" cy="3238500"/>
          </a:xfrm>
          <a:prstGeom xmlns:a="http://schemas.openxmlformats.org/drawingml/2006/main" prst="roundRect">
            <a:avLst>
              <a:gd name="adj" fmla="val 4118"/>
            </a:avLst>
          </a:prstGeom>
          <a:solidFill xmlns:a="http://schemas.openxmlformats.org/drawingml/2006/main">
            <a:srgbClr val="FFFFFF"/>
          </a:solidFill>
          <a:ln xmlns:a="http://schemas.openxmlformats.org/drawingml/2006/main" w="9525">
            <a:solidFill>
              <a:srgbClr val="D8D9D4"/>
            </a:solidFill>
          </a:ln>
        </p:spPr>
      </p:sp>
      <p:sp>
        <p:nvSpPr>
          <p:cNvPr id="5" name="">
            <a:extLst xmlns:a="http://schemas.openxmlformats.org/drawingml/2006/main">
              <a:ext uri="{FF2B5EF4-FFF2-40B4-BE49-F238E27FC236}">
                <a16:creationId xmlns:a16="http://schemas.microsoft.com/office/drawing/2014/main" id="{E8B682D3-1EF7-4EC9-A187-1B732F60E9B0}"/>
              </a:ext>
            </a:extLst>
          </p:cNvPr>
          <p:cNvSpPr>
            <a:spLocks xmlns:a="http://schemas.openxmlformats.org/drawingml/2006/main" noGrp="1"/>
          </p:cNvSpPr>
          <p:nvPr/>
        </p:nvSpPr>
        <p:spPr>
          <a:xfrm xmlns:a="http://schemas.openxmlformats.org/drawingml/2006/main">
            <a:off x="971550" y="20955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i="0">
                <a:solidFill>
                  <a:srgbClr val="171817"/>
                </a:solidFill>
                <a:latin typeface="Arial"/>
                <a:ea typeface="Arial"/>
                <a:cs typeface="Arial"/>
              </a:defRPr>
            </a:pPr>
            <a:r>
              <a:rPr sz="1275" b="1" i="0">
                <a:solidFill>
                  <a:srgbClr val="171817"/>
                </a:solidFill>
                <a:latin typeface="Arial"/>
                <a:ea typeface="Arial"/>
                <a:cs typeface="Arial"/>
              </a:rPr>
              <a:t>Three scripted demonstrations</a:t>
            </a:r>
          </a:p>
        </p:txBody>
      </p:sp>
      <p:sp>
        <p:nvSpPr>
          <p:cNvPr id="6" name="">
            <a:extLst xmlns:a="http://schemas.openxmlformats.org/drawingml/2006/main">
              <a:ext uri="{FF2B5EF4-FFF2-40B4-BE49-F238E27FC236}">
                <a16:creationId xmlns:a16="http://schemas.microsoft.com/office/drawing/2014/main" id="{C34871A3-9934-421F-AD12-D140815BBC5F}"/>
              </a:ext>
            </a:extLst>
          </p:cNvPr>
          <p:cNvSpPr>
            <a:spLocks xmlns:a="http://schemas.openxmlformats.org/drawingml/2006/main" noGrp="1"/>
          </p:cNvSpPr>
          <p:nvPr/>
        </p:nvSpPr>
        <p:spPr>
          <a:xfrm xmlns:a="http://schemas.openxmlformats.org/drawingml/2006/main">
            <a:off x="990600" y="27813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PASS</a:t>
            </a:r>
          </a:p>
        </p:txBody>
      </p:sp>
      <p:sp>
        <p:nvSpPr>
          <p:cNvPr id="7" name="">
            <a:extLst xmlns:a="http://schemas.openxmlformats.org/drawingml/2006/main">
              <a:ext uri="{FF2B5EF4-FFF2-40B4-BE49-F238E27FC236}">
                <a16:creationId xmlns:a16="http://schemas.microsoft.com/office/drawing/2014/main" id="{C4480138-83BD-4E8B-B943-885BC25C6EB7}"/>
              </a:ext>
            </a:extLst>
          </p:cNvPr>
          <p:cNvSpPr>
            <a:spLocks xmlns:a="http://schemas.openxmlformats.org/drawingml/2006/main" noGrp="1"/>
          </p:cNvSpPr>
          <p:nvPr/>
        </p:nvSpPr>
        <p:spPr>
          <a:xfrm xmlns:a="http://schemas.openxmlformats.org/drawingml/2006/main">
            <a:off x="2190750" y="2800350"/>
            <a:ext cx="2714625" cy="209550"/>
          </a:xfrm>
          <a:prstGeom xmlns:a="http://schemas.openxmlformats.org/drawingml/2006/main" prst="roundRect">
            <a:avLst>
              <a:gd name="adj" fmla="val 18182"/>
            </a:avLst>
          </a:prstGeom>
          <a:solidFill xmlns:a="http://schemas.openxmlformats.org/drawingml/2006/main">
            <a:srgbClr val="E9EAE5"/>
          </a:solidFill>
          <a:ln xmlns:a="http://schemas.openxmlformats.org/drawingml/2006/main" w="9525">
            <a:solidFill>
              <a:srgbClr val="E9EAE5"/>
            </a:solidFill>
          </a:ln>
        </p:spPr>
      </p:sp>
      <p:sp>
        <p:nvSpPr>
          <p:cNvPr id="8" name="">
            <a:extLst xmlns:a="http://schemas.openxmlformats.org/drawingml/2006/main">
              <a:ext uri="{FF2B5EF4-FFF2-40B4-BE49-F238E27FC236}">
                <a16:creationId xmlns:a16="http://schemas.microsoft.com/office/drawing/2014/main" id="{2C90692D-50D1-4308-9EA2-413CE9AC4F87}"/>
              </a:ext>
            </a:extLst>
          </p:cNvPr>
          <p:cNvSpPr>
            <a:spLocks xmlns:a="http://schemas.openxmlformats.org/drawingml/2006/main" noGrp="1"/>
          </p:cNvSpPr>
          <p:nvPr/>
        </p:nvSpPr>
        <p:spPr>
          <a:xfrm xmlns:a="http://schemas.openxmlformats.org/drawingml/2006/main">
            <a:off x="2190750" y="2800350"/>
            <a:ext cx="952500" cy="209550"/>
          </a:xfrm>
          <a:prstGeom xmlns:a="http://schemas.openxmlformats.org/drawingml/2006/main" prst="roundRect">
            <a:avLst>
              <a:gd name="adj" fmla="val 18182"/>
            </a:avLst>
          </a:prstGeom>
          <a:solidFill xmlns:a="http://schemas.openxmlformats.org/drawingml/2006/main">
            <a:srgbClr val="272A27"/>
          </a:solidFill>
          <a:ln xmlns:a="http://schemas.openxmlformats.org/drawingml/2006/main" w="9525">
            <a:solidFill>
              <a:srgbClr val="272A27"/>
            </a:solidFill>
          </a:ln>
        </p:spPr>
      </p:sp>
      <p:sp>
        <p:nvSpPr>
          <p:cNvPr id="9" name="">
            <a:extLst xmlns:a="http://schemas.openxmlformats.org/drawingml/2006/main">
              <a:ext uri="{FF2B5EF4-FFF2-40B4-BE49-F238E27FC236}">
                <a16:creationId xmlns:a16="http://schemas.microsoft.com/office/drawing/2014/main" id="{087122AD-A645-4A29-8DB9-AD65A02969F6}"/>
              </a:ext>
            </a:extLst>
          </p:cNvPr>
          <p:cNvSpPr>
            <a:spLocks xmlns:a="http://schemas.openxmlformats.org/drawingml/2006/main" noGrp="1"/>
          </p:cNvSpPr>
          <p:nvPr/>
        </p:nvSpPr>
        <p:spPr>
          <a:xfrm xmlns:a="http://schemas.openxmlformats.org/drawingml/2006/main">
            <a:off x="5095875" y="27813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171817"/>
                </a:solidFill>
                <a:latin typeface="Arial"/>
                <a:ea typeface="Arial"/>
                <a:cs typeface="Arial"/>
              </a:defRPr>
            </a:pPr>
            <a:r>
              <a:rPr sz="1050" b="1" i="0">
                <a:solidFill>
                  <a:srgbClr val="171817"/>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52B1EFD9-4A87-461D-9E2E-63EEC82D38B4}"/>
              </a:ext>
            </a:extLst>
          </p:cNvPr>
          <p:cNvSpPr>
            <a:spLocks xmlns:a="http://schemas.openxmlformats.org/drawingml/2006/main" noGrp="1"/>
          </p:cNvSpPr>
          <p:nvPr/>
        </p:nvSpPr>
        <p:spPr>
          <a:xfrm xmlns:a="http://schemas.openxmlformats.org/drawingml/2006/main">
            <a:off x="990600" y="3495675"/>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FAIL</a:t>
            </a:r>
          </a:p>
        </p:txBody>
      </p:sp>
      <p:sp>
        <p:nvSpPr>
          <p:cNvPr id="11" name="">
            <a:extLst xmlns:a="http://schemas.openxmlformats.org/drawingml/2006/main">
              <a:ext uri="{FF2B5EF4-FFF2-40B4-BE49-F238E27FC236}">
                <a16:creationId xmlns:a16="http://schemas.microsoft.com/office/drawing/2014/main" id="{5A0E0F16-1ACE-46FA-9477-30D8D534FEEB}"/>
              </a:ext>
            </a:extLst>
          </p:cNvPr>
          <p:cNvSpPr>
            <a:spLocks xmlns:a="http://schemas.openxmlformats.org/drawingml/2006/main" noGrp="1"/>
          </p:cNvSpPr>
          <p:nvPr/>
        </p:nvSpPr>
        <p:spPr>
          <a:xfrm xmlns:a="http://schemas.openxmlformats.org/drawingml/2006/main">
            <a:off x="2190750" y="3514725"/>
            <a:ext cx="2714625" cy="209550"/>
          </a:xfrm>
          <a:prstGeom xmlns:a="http://schemas.openxmlformats.org/drawingml/2006/main" prst="roundRect">
            <a:avLst>
              <a:gd name="adj" fmla="val 18182"/>
            </a:avLst>
          </a:prstGeom>
          <a:solidFill xmlns:a="http://schemas.openxmlformats.org/drawingml/2006/main">
            <a:srgbClr val="E9EAE5"/>
          </a:solidFill>
          <a:ln xmlns:a="http://schemas.openxmlformats.org/drawingml/2006/main" w="9525">
            <a:solidFill>
              <a:srgbClr val="E9EAE5"/>
            </a:solidFill>
          </a:ln>
        </p:spPr>
      </p:sp>
      <p:sp>
        <p:nvSpPr>
          <p:cNvPr id="12" name="">
            <a:extLst xmlns:a="http://schemas.openxmlformats.org/drawingml/2006/main">
              <a:ext uri="{FF2B5EF4-FFF2-40B4-BE49-F238E27FC236}">
                <a16:creationId xmlns:a16="http://schemas.microsoft.com/office/drawing/2014/main" id="{FE0FD2E3-297E-4BFA-8FEE-B8967E72592F}"/>
              </a:ext>
            </a:extLst>
          </p:cNvPr>
          <p:cNvSpPr>
            <a:spLocks xmlns:a="http://schemas.openxmlformats.org/drawingml/2006/main" noGrp="1"/>
          </p:cNvSpPr>
          <p:nvPr/>
        </p:nvSpPr>
        <p:spPr>
          <a:xfrm xmlns:a="http://schemas.openxmlformats.org/drawingml/2006/main">
            <a:off x="2190750" y="3514725"/>
            <a:ext cx="1905000" cy="209550"/>
          </a:xfrm>
          <a:prstGeom xmlns:a="http://schemas.openxmlformats.org/drawingml/2006/main" prst="roundRect">
            <a:avLst>
              <a:gd name="adj" fmla="val 18182"/>
            </a:avLst>
          </a:prstGeom>
          <a:solidFill xmlns:a="http://schemas.openxmlformats.org/drawingml/2006/main">
            <a:srgbClr val="171817"/>
          </a:solidFill>
          <a:ln xmlns:a="http://schemas.openxmlformats.org/drawingml/2006/main" w="9525">
            <a:solidFill>
              <a:srgbClr val="171817"/>
            </a:solidFill>
          </a:ln>
        </p:spPr>
      </p:sp>
      <p:sp>
        <p:nvSpPr>
          <p:cNvPr id="13" name="">
            <a:extLst xmlns:a="http://schemas.openxmlformats.org/drawingml/2006/main">
              <a:ext uri="{FF2B5EF4-FFF2-40B4-BE49-F238E27FC236}">
                <a16:creationId xmlns:a16="http://schemas.microsoft.com/office/drawing/2014/main" id="{4E1ED73D-DA44-4C97-BDE5-FEB1EFE222DA}"/>
              </a:ext>
            </a:extLst>
          </p:cNvPr>
          <p:cNvSpPr>
            <a:spLocks xmlns:a="http://schemas.openxmlformats.org/drawingml/2006/main" noGrp="1"/>
          </p:cNvSpPr>
          <p:nvPr/>
        </p:nvSpPr>
        <p:spPr>
          <a:xfrm xmlns:a="http://schemas.openxmlformats.org/drawingml/2006/main">
            <a:off x="5095875" y="34956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171817"/>
                </a:solidFill>
                <a:latin typeface="Arial"/>
                <a:ea typeface="Arial"/>
                <a:cs typeface="Arial"/>
              </a:defRPr>
            </a:pPr>
            <a:r>
              <a:rPr sz="1050" b="1" i="0">
                <a:solidFill>
                  <a:srgbClr val="171817"/>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E4ACC57A-F668-4552-99CC-4A553528A2DA}"/>
              </a:ext>
            </a:extLst>
          </p:cNvPr>
          <p:cNvSpPr>
            <a:spLocks xmlns:a="http://schemas.openxmlformats.org/drawingml/2006/main" noGrp="1"/>
          </p:cNvSpPr>
          <p:nvPr/>
        </p:nvSpPr>
        <p:spPr>
          <a:xfrm xmlns:a="http://schemas.openxmlformats.org/drawingml/2006/main">
            <a:off x="990600" y="421005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i="0">
                <a:solidFill>
                  <a:srgbClr val="62645F"/>
                </a:solidFill>
                <a:latin typeface="Arial"/>
                <a:ea typeface="Arial"/>
                <a:cs typeface="Arial"/>
              </a:defRPr>
            </a:pPr>
            <a:r>
              <a:rPr sz="975" b="1" i="0">
                <a:solidFill>
                  <a:srgbClr val="62645F"/>
                </a:solidFill>
                <a:latin typeface="Arial"/>
                <a:ea typeface="Arial"/>
                <a:cs typeface="Arial"/>
              </a:rPr>
              <a:t>UNCERTAIN</a:t>
            </a:r>
          </a:p>
        </p:txBody>
      </p:sp>
      <p:sp>
        <p:nvSpPr>
          <p:cNvPr id="15" name="">
            <a:extLst xmlns:a="http://schemas.openxmlformats.org/drawingml/2006/main">
              <a:ext uri="{FF2B5EF4-FFF2-40B4-BE49-F238E27FC236}">
                <a16:creationId xmlns:a16="http://schemas.microsoft.com/office/drawing/2014/main" id="{2493E3ED-4E53-4698-BFFD-BF289DFE98DB}"/>
              </a:ext>
            </a:extLst>
          </p:cNvPr>
          <p:cNvSpPr>
            <a:spLocks xmlns:a="http://schemas.openxmlformats.org/drawingml/2006/main" noGrp="1"/>
          </p:cNvSpPr>
          <p:nvPr/>
        </p:nvSpPr>
        <p:spPr>
          <a:xfrm xmlns:a="http://schemas.openxmlformats.org/drawingml/2006/main">
            <a:off x="2190750" y="4229100"/>
            <a:ext cx="2714625" cy="209550"/>
          </a:xfrm>
          <a:prstGeom xmlns:a="http://schemas.openxmlformats.org/drawingml/2006/main" prst="roundRect">
            <a:avLst>
              <a:gd name="adj" fmla="val 18182"/>
            </a:avLst>
          </a:prstGeom>
          <a:solidFill xmlns:a="http://schemas.openxmlformats.org/drawingml/2006/main">
            <a:srgbClr val="E9EAE5"/>
          </a:solidFill>
          <a:ln xmlns:a="http://schemas.openxmlformats.org/drawingml/2006/main" w="9525">
            <a:solidFill>
              <a:srgbClr val="E9EAE5"/>
            </a:solidFill>
          </a:ln>
        </p:spPr>
      </p:sp>
      <p:sp>
        <p:nvSpPr>
          <p:cNvPr id="16" name="">
            <a:extLst xmlns:a="http://schemas.openxmlformats.org/drawingml/2006/main">
              <a:ext uri="{FF2B5EF4-FFF2-40B4-BE49-F238E27FC236}">
                <a16:creationId xmlns:a16="http://schemas.microsoft.com/office/drawing/2014/main" id="{0D241DE1-C688-4578-9682-2AFC5C94C539}"/>
              </a:ext>
            </a:extLst>
          </p:cNvPr>
          <p:cNvSpPr>
            <a:spLocks xmlns:a="http://schemas.openxmlformats.org/drawingml/2006/main" noGrp="1"/>
          </p:cNvSpPr>
          <p:nvPr/>
        </p:nvSpPr>
        <p:spPr>
          <a:xfrm xmlns:a="http://schemas.openxmlformats.org/drawingml/2006/main">
            <a:off x="5095875" y="4210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i="0">
                <a:solidFill>
                  <a:srgbClr val="171817"/>
                </a:solidFill>
                <a:latin typeface="Arial"/>
                <a:ea typeface="Arial"/>
                <a:cs typeface="Arial"/>
              </a:defRPr>
            </a:pPr>
            <a:r>
              <a:rPr sz="1050" b="1" i="0">
                <a:solidFill>
                  <a:srgbClr val="171817"/>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61115732-686E-44B9-AF87-F8BB48807971}"/>
              </a:ext>
            </a:extLst>
          </p:cNvPr>
          <p:cNvSpPr>
            <a:spLocks xmlns:a="http://schemas.openxmlformats.org/drawingml/2006/main" noGrp="1"/>
          </p:cNvSpPr>
          <p:nvPr/>
        </p:nvSpPr>
        <p:spPr>
          <a:xfrm xmlns:a="http://schemas.openxmlformats.org/drawingml/2006/main">
            <a:off x="685800" y="538162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75" b="0" i="0">
                <a:solidFill>
                  <a:srgbClr val="62645F"/>
                </a:solidFill>
                <a:latin typeface="Arial"/>
                <a:ea typeface="Arial"/>
                <a:cs typeface="Arial"/>
              </a:defRPr>
            </a:pPr>
            <a:r>
              <a:rPr sz="975" b="0" i="0">
                <a:solidFill>
                  <a:srgbClr val="62645F"/>
                </a:solidFill>
                <a:latin typeface="Arial"/>
                <a:ea typeface="Arial"/>
                <a:cs typeface="Arial"/>
              </a:rPr>
              <a:t>The chart shows the saved fallback examples used for the demo. It is not a claim about model quality.</a:t>
            </a:r>
          </a:p>
        </p:txBody>
      </p:sp>
      <p:sp>
        <p:nvSpPr>
          <p:cNvPr id="18" name="">
            <a:extLst xmlns:a="http://schemas.openxmlformats.org/drawingml/2006/main">
              <a:ext uri="{FF2B5EF4-FFF2-40B4-BE49-F238E27FC236}">
                <a16:creationId xmlns:a16="http://schemas.microsoft.com/office/drawing/2014/main" id="{BA1F66F2-42C8-4C61-BFE1-44BFFAF8FBCA}"/>
              </a:ext>
            </a:extLst>
          </p:cNvPr>
          <p:cNvSpPr>
            <a:spLocks xmlns:a="http://schemas.openxmlformats.org/drawingml/2006/main" noGrp="1"/>
          </p:cNvSpPr>
          <p:nvPr/>
        </p:nvSpPr>
        <p:spPr>
          <a:xfrm xmlns:a="http://schemas.openxmlformats.org/drawingml/2006/main">
            <a:off x="6858000" y="1809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7544"/>
          </a:bodyPr>
          <a:lstStyle xmlns:a="http://schemas.openxmlformats.org/drawingml/2006/main"/>
          <a:p xmlns:a="http://schemas.openxmlformats.org/drawingml/2006/main">
            <a:pPr>
              <a:defRPr sz="1425" b="1" i="0">
                <a:solidFill>
                  <a:srgbClr val="171817"/>
                </a:solidFill>
                <a:latin typeface="Arial"/>
                <a:ea typeface="Arial"/>
                <a:cs typeface="Arial"/>
              </a:defRPr>
            </a:pPr>
            <a:r>
              <a:rPr sz="1425" b="1" i="0">
                <a:solidFill>
                  <a:srgbClr val="171817"/>
                </a:solidFill>
                <a:latin typeface="Arial"/>
                <a:ea typeface="Arial"/>
                <a:cs typeface="Arial"/>
              </a:rPr>
              <a:t>Execution status</a:t>
            </a:r>
          </a:p>
        </p:txBody>
      </p:sp>
      <p:sp>
        <p:nvSpPr>
          <p:cNvPr id="19" name="">
            <a:extLst xmlns:a="http://schemas.openxmlformats.org/drawingml/2006/main">
              <a:ext uri="{FF2B5EF4-FFF2-40B4-BE49-F238E27FC236}">
                <a16:creationId xmlns:a16="http://schemas.microsoft.com/office/drawing/2014/main" id="{3D26B86E-4C94-4237-BED3-845978E46C97}"/>
              </a:ext>
            </a:extLst>
          </p:cNvPr>
          <p:cNvSpPr>
            <a:spLocks xmlns:a="http://schemas.openxmlformats.org/drawingml/2006/main" noGrp="1"/>
          </p:cNvSpPr>
          <p:nvPr/>
        </p:nvSpPr>
        <p:spPr>
          <a:xfrm xmlns:a="http://schemas.openxmlformats.org/drawingml/2006/main">
            <a:off x="6858000" y="21050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Did the run finish or stop?</a:t>
            </a:r>
          </a:p>
        </p:txBody>
      </p:sp>
      <p:sp>
        <p:nvSpPr>
          <p:cNvPr id="20" name="">
            <a:extLst xmlns:a="http://schemas.openxmlformats.org/drawingml/2006/main">
              <a:ext uri="{FF2B5EF4-FFF2-40B4-BE49-F238E27FC236}">
                <a16:creationId xmlns:a16="http://schemas.microsoft.com/office/drawing/2014/main" id="{C73E9E26-2D01-40CF-B850-AE262DECF84A}"/>
              </a:ext>
            </a:extLst>
          </p:cNvPr>
          <p:cNvSpPr>
            <a:spLocks xmlns:a="http://schemas.openxmlformats.org/drawingml/2006/main" noGrp="1"/>
          </p:cNvSpPr>
          <p:nvPr/>
        </p:nvSpPr>
        <p:spPr>
          <a:xfrm xmlns:a="http://schemas.openxmlformats.org/drawingml/2006/main">
            <a:off x="6858000" y="2476500"/>
            <a:ext cx="4000500" cy="0"/>
          </a:xfrm>
          <a:prstGeom xmlns:a="http://schemas.openxmlformats.org/drawingml/2006/main" prst="line">
            <a:avLst/>
          </a:prstGeom>
          <a:ln xmlns:a="http://schemas.openxmlformats.org/drawingml/2006/main" w="9525">
            <a:solidFill>
              <a:srgbClr val="D8D9D4"/>
            </a:solidFill>
          </a:ln>
        </p:spPr>
      </p:sp>
      <p:sp>
        <p:nvSpPr>
          <p:cNvPr id="21" name="">
            <a:extLst xmlns:a="http://schemas.openxmlformats.org/drawingml/2006/main">
              <a:ext uri="{FF2B5EF4-FFF2-40B4-BE49-F238E27FC236}">
                <a16:creationId xmlns:a16="http://schemas.microsoft.com/office/drawing/2014/main" id="{B30A0D98-8A1D-41D3-ACF0-41CFA3EE9127}"/>
              </a:ext>
            </a:extLst>
          </p:cNvPr>
          <p:cNvSpPr>
            <a:spLocks xmlns:a="http://schemas.openxmlformats.org/drawingml/2006/main" noGrp="1"/>
          </p:cNvSpPr>
          <p:nvPr/>
        </p:nvSpPr>
        <p:spPr>
          <a:xfrm xmlns:a="http://schemas.openxmlformats.org/drawingml/2006/main">
            <a:off x="6858000" y="26860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7544"/>
          </a:bodyPr>
          <a:lstStyle xmlns:a="http://schemas.openxmlformats.org/drawingml/2006/main"/>
          <a:p xmlns:a="http://schemas.openxmlformats.org/drawingml/2006/main">
            <a:pPr>
              <a:defRPr sz="1425" b="1" i="0">
                <a:solidFill>
                  <a:srgbClr val="171817"/>
                </a:solidFill>
                <a:latin typeface="Arial"/>
                <a:ea typeface="Arial"/>
                <a:cs typeface="Arial"/>
              </a:defRPr>
            </a:pPr>
            <a:r>
              <a:rPr sz="1425" b="1" i="0">
                <a:solidFill>
                  <a:srgbClr val="171817"/>
                </a:solidFill>
                <a:latin typeface="Arial"/>
                <a:ea typeface="Arial"/>
                <a:cs typeface="Arial"/>
              </a:rPr>
              <a:t>Execution mode</a:t>
            </a:r>
          </a:p>
        </p:txBody>
      </p:sp>
      <p:sp>
        <p:nvSpPr>
          <p:cNvPr id="22" name="">
            <a:extLst xmlns:a="http://schemas.openxmlformats.org/drawingml/2006/main">
              <a:ext uri="{FF2B5EF4-FFF2-40B4-BE49-F238E27FC236}">
                <a16:creationId xmlns:a16="http://schemas.microsoft.com/office/drawing/2014/main" id="{44DDBE42-6663-44B1-AFCF-696DC1BAFA6D}"/>
              </a:ext>
            </a:extLst>
          </p:cNvPr>
          <p:cNvSpPr>
            <a:spLocks xmlns:a="http://schemas.openxmlformats.org/drawingml/2006/main" noGrp="1"/>
          </p:cNvSpPr>
          <p:nvPr/>
        </p:nvSpPr>
        <p:spPr>
          <a:xfrm xmlns:a="http://schemas.openxmlformats.org/drawingml/2006/main">
            <a:off x="6858000" y="29813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LIVE_MODEL or DEMO_FALLBACK?</a:t>
            </a:r>
          </a:p>
        </p:txBody>
      </p:sp>
      <p:sp>
        <p:nvSpPr>
          <p:cNvPr id="23" name="">
            <a:extLst xmlns:a="http://schemas.openxmlformats.org/drawingml/2006/main">
              <a:ext uri="{FF2B5EF4-FFF2-40B4-BE49-F238E27FC236}">
                <a16:creationId xmlns:a16="http://schemas.microsoft.com/office/drawing/2014/main" id="{2945704B-1BE5-4CE0-919B-E760DE180222}"/>
              </a:ext>
            </a:extLst>
          </p:cNvPr>
          <p:cNvSpPr>
            <a:spLocks xmlns:a="http://schemas.openxmlformats.org/drawingml/2006/main" noGrp="1"/>
          </p:cNvSpPr>
          <p:nvPr/>
        </p:nvSpPr>
        <p:spPr>
          <a:xfrm xmlns:a="http://schemas.openxmlformats.org/drawingml/2006/main">
            <a:off x="6858000" y="3352800"/>
            <a:ext cx="4000500" cy="0"/>
          </a:xfrm>
          <a:prstGeom xmlns:a="http://schemas.openxmlformats.org/drawingml/2006/main" prst="line">
            <a:avLst/>
          </a:prstGeom>
          <a:ln xmlns:a="http://schemas.openxmlformats.org/drawingml/2006/main" w="9525">
            <a:solidFill>
              <a:srgbClr val="D8D9D4"/>
            </a:solidFill>
          </a:ln>
        </p:spPr>
      </p:sp>
      <p:sp>
        <p:nvSpPr>
          <p:cNvPr id="24" name="">
            <a:extLst xmlns:a="http://schemas.openxmlformats.org/drawingml/2006/main">
              <a:ext uri="{FF2B5EF4-FFF2-40B4-BE49-F238E27FC236}">
                <a16:creationId xmlns:a16="http://schemas.microsoft.com/office/drawing/2014/main" id="{543BF2B8-9471-44AA-8379-49B450BEDB3D}"/>
              </a:ext>
            </a:extLst>
          </p:cNvPr>
          <p:cNvSpPr>
            <a:spLocks xmlns:a="http://schemas.openxmlformats.org/drawingml/2006/main" noGrp="1"/>
          </p:cNvSpPr>
          <p:nvPr/>
        </p:nvSpPr>
        <p:spPr>
          <a:xfrm xmlns:a="http://schemas.openxmlformats.org/drawingml/2006/main">
            <a:off x="6858000" y="35623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7544"/>
          </a:bodyPr>
          <a:lstStyle xmlns:a="http://schemas.openxmlformats.org/drawingml/2006/main"/>
          <a:p xmlns:a="http://schemas.openxmlformats.org/drawingml/2006/main">
            <a:pPr>
              <a:defRPr sz="1425" b="1" i="0">
                <a:solidFill>
                  <a:srgbClr val="171817"/>
                </a:solidFill>
                <a:latin typeface="Arial"/>
                <a:ea typeface="Arial"/>
                <a:cs typeface="Arial"/>
              </a:defRPr>
            </a:pPr>
            <a:r>
              <a:rPr sz="1425" b="1" i="0">
                <a:solidFill>
                  <a:srgbClr val="171817"/>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2E8AF515-4E66-4B8F-AB82-25329946A869}"/>
              </a:ext>
            </a:extLst>
          </p:cNvPr>
          <p:cNvSpPr>
            <a:spLocks xmlns:a="http://schemas.openxmlformats.org/drawingml/2006/main" noGrp="1"/>
          </p:cNvSpPr>
          <p:nvPr/>
        </p:nvSpPr>
        <p:spPr>
          <a:xfrm xmlns:a="http://schemas.openxmlformats.org/drawingml/2006/main">
            <a:off x="6858000" y="38576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Are before/after snapshots complete?</a:t>
            </a:r>
          </a:p>
        </p:txBody>
      </p:sp>
      <p:sp>
        <p:nvSpPr>
          <p:cNvPr id="26" name="">
            <a:extLst xmlns:a="http://schemas.openxmlformats.org/drawingml/2006/main">
              <a:ext uri="{FF2B5EF4-FFF2-40B4-BE49-F238E27FC236}">
                <a16:creationId xmlns:a16="http://schemas.microsoft.com/office/drawing/2014/main" id="{A1970D3C-4266-4FE1-8049-AED2F39427B2}"/>
              </a:ext>
            </a:extLst>
          </p:cNvPr>
          <p:cNvSpPr>
            <a:spLocks xmlns:a="http://schemas.openxmlformats.org/drawingml/2006/main" noGrp="1"/>
          </p:cNvSpPr>
          <p:nvPr/>
        </p:nvSpPr>
        <p:spPr>
          <a:xfrm xmlns:a="http://schemas.openxmlformats.org/drawingml/2006/main">
            <a:off x="6858000" y="4229100"/>
            <a:ext cx="4000500" cy="0"/>
          </a:xfrm>
          <a:prstGeom xmlns:a="http://schemas.openxmlformats.org/drawingml/2006/main" prst="line">
            <a:avLst/>
          </a:prstGeom>
          <a:ln xmlns:a="http://schemas.openxmlformats.org/drawingml/2006/main" w="9525">
            <a:solidFill>
              <a:srgbClr val="D8D9D4"/>
            </a:solidFill>
          </a:ln>
        </p:spPr>
      </p:sp>
      <p:sp>
        <p:nvSpPr>
          <p:cNvPr id="27" name="">
            <a:extLst xmlns:a="http://schemas.openxmlformats.org/drawingml/2006/main">
              <a:ext uri="{FF2B5EF4-FFF2-40B4-BE49-F238E27FC236}">
                <a16:creationId xmlns:a16="http://schemas.microsoft.com/office/drawing/2014/main" id="{D34ACB14-C38B-42DF-91FD-F29C61DF860F}"/>
              </a:ext>
            </a:extLst>
          </p:cNvPr>
          <p:cNvSpPr>
            <a:spLocks xmlns:a="http://schemas.openxmlformats.org/drawingml/2006/main" noGrp="1"/>
          </p:cNvSpPr>
          <p:nvPr/>
        </p:nvSpPr>
        <p:spPr>
          <a:xfrm xmlns:a="http://schemas.openxmlformats.org/drawingml/2006/main">
            <a:off x="6858000" y="44386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7544"/>
          </a:bodyPr>
          <a:lstStyle xmlns:a="http://schemas.openxmlformats.org/drawingml/2006/main"/>
          <a:p xmlns:a="http://schemas.openxmlformats.org/drawingml/2006/main">
            <a:pPr>
              <a:defRPr sz="1425" b="1" i="0">
                <a:solidFill>
                  <a:srgbClr val="171817"/>
                </a:solidFill>
                <a:latin typeface="Arial"/>
                <a:ea typeface="Arial"/>
                <a:cs typeface="Arial"/>
              </a:defRPr>
            </a:pPr>
            <a:r>
              <a:rPr sz="1425" b="1" i="0">
                <a:solidFill>
                  <a:srgbClr val="171817"/>
                </a:solidFill>
                <a:latin typeface="Arial"/>
                <a:ea typeface="Arial"/>
                <a:cs typeface="Arial"/>
              </a:rPr>
              <a:t>Verdict</a:t>
            </a:r>
          </a:p>
        </p:txBody>
      </p:sp>
      <p:sp>
        <p:nvSpPr>
          <p:cNvPr id="28" name="">
            <a:extLst xmlns:a="http://schemas.openxmlformats.org/drawingml/2006/main">
              <a:ext uri="{FF2B5EF4-FFF2-40B4-BE49-F238E27FC236}">
                <a16:creationId xmlns:a16="http://schemas.microsoft.com/office/drawing/2014/main" id="{26C19B8A-07E2-45F8-AA04-4F11ECD4BFD9}"/>
              </a:ext>
            </a:extLst>
          </p:cNvPr>
          <p:cNvSpPr>
            <a:spLocks xmlns:a="http://schemas.openxmlformats.org/drawingml/2006/main" noGrp="1"/>
          </p:cNvSpPr>
          <p:nvPr/>
        </p:nvSpPr>
        <p:spPr>
          <a:xfrm xmlns:a="http://schemas.openxmlformats.org/drawingml/2006/main">
            <a:off x="6858000" y="47339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i="0">
                <a:solidFill>
                  <a:srgbClr val="62645F"/>
                </a:solidFill>
                <a:latin typeface="Arial"/>
                <a:ea typeface="Arial"/>
                <a:cs typeface="Arial"/>
              </a:defRPr>
            </a:pPr>
            <a:r>
              <a:rPr sz="1050" b="0" i="0">
                <a:solidFill>
                  <a:srgbClr val="62645F"/>
                </a:solidFill>
                <a:latin typeface="Arial"/>
                <a:ea typeface="Arial"/>
                <a:cs typeface="Arial"/>
              </a:rPr>
              <a:t>PASS, FAIL, or UNCERTAIN?</a:t>
            </a:r>
          </a:p>
        </p:txBody>
      </p:sp>
      <p:sp>
        <p:nvSpPr>
          <p:cNvPr id="29" name="">
            <a:extLst xmlns:a="http://schemas.openxmlformats.org/drawingml/2006/main">
              <a:ext uri="{FF2B5EF4-FFF2-40B4-BE49-F238E27FC236}">
                <a16:creationId xmlns:a16="http://schemas.microsoft.com/office/drawing/2014/main" id="{3FEB342E-CEE8-49F6-B596-0055A7969185}"/>
              </a:ext>
            </a:extLst>
          </p:cNvPr>
          <p:cNvSpPr>
            <a:spLocks xmlns:a="http://schemas.openxmlformats.org/drawingml/2006/main" noGrp="1"/>
          </p:cNvSpPr>
          <p:nvPr/>
        </p:nvSpPr>
        <p:spPr>
          <a:xfrm xmlns:a="http://schemas.openxmlformats.org/drawingml/2006/main">
            <a:off x="6858000" y="5105400"/>
            <a:ext cx="4000500" cy="0"/>
          </a:xfrm>
          <a:prstGeom xmlns:a="http://schemas.openxmlformats.org/drawingml/2006/main" prst="line">
            <a:avLst/>
          </a:prstGeom>
          <a:ln xmlns:a="http://schemas.openxmlformats.org/drawingml/2006/main" w="9525">
            <a:solidFill>
              <a:srgbClr val="D8D9D4"/>
            </a:solidFill>
          </a:ln>
        </p:spPr>
      </p:sp>
    </p:spTree>
    <p:extLst>
      <p:ext uri="{BB962C8B-B14F-4D97-AF65-F5344CB8AC3E}">
        <p14:creationId xmlns:p14="http://schemas.microsoft.com/office/powerpoint/2010/main" val="286986560"/>
      </p:ext>
    </p:extLst>
  </p:cSld>
</p:sld>
</file>

<file path=ppt/slides/slide10.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E409D0-6BB5-4114-8FA1-ED9D4AE7331B}"/>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03 / METRICS</a:t>
            </a:r>
          </a:p>
        </p:txBody>
      </p:sp>
      <p:sp>
        <p:nvSpPr>
          <p:cNvPr id="2" name="">
            <a:extLst xmlns:a="http://schemas.openxmlformats.org/drawingml/2006/main">
              <a:ext uri="{FF2B5EF4-FFF2-40B4-BE49-F238E27FC236}">
                <a16:creationId xmlns:a16="http://schemas.microsoft.com/office/drawing/2014/main" id="{A929337D-DB6C-40DF-B6BF-BE7762B98039}"/>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The demo shows both success and failure</a:t>
            </a:r>
          </a:p>
        </p:txBody>
      </p:sp>
      <p:sp>
        <p:nvSpPr>
          <p:cNvPr id="3" name="">
            <a:extLst xmlns:a="http://schemas.openxmlformats.org/drawingml/2006/main">
              <a:ext uri="{FF2B5EF4-FFF2-40B4-BE49-F238E27FC236}">
                <a16:creationId xmlns:a16="http://schemas.microsoft.com/office/drawing/2014/main" id="{8EB36975-2273-46CC-9E3F-8E292057883C}"/>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10 — 12</a:t>
            </a:r>
          </a:p>
        </p:txBody>
      </p:sp>
      <p:graphicFrame>
        <p:nvGraphicFramePr>
          <p:cNvPr id="10" name=""/>
          <p:cNvGraphicFramePr/>
          <p:nvPr/>
        </p:nvGraphicFramePr>
        <p:xfrm>
          <a:off xmlns:a="http://schemas.openxmlformats.org/drawingml/2006/main" x="685800" y="1762125"/>
          <a:ext xmlns:a="http://schemas.openxmlformats.org/drawingml/2006/main" cx="10820400" cy="2381250"/>
        </p:xfrm>
        <a:graphic xmlns:a="http://schemas.openxmlformats.org/drawingml/2006/main">
          <a:graphicData uri="http://schemas.openxmlformats.org/drawingml/2006/table">
            <a:tbl>
              <a:tblPr firstRow="1" bandRow="0"/>
              <a:tblGrid>
                <a:gridCol w="2705100"/>
                <a:gridCol w="2705100"/>
                <a:gridCol w="2705100"/>
                <a:gridCol w="2705100"/>
              </a:tblGrid>
              <a:tr h="595313">
                <a:tc>
                  <a:txBody>
                    <a:bodyPr/>
                    <a:lstStyle/>
                    <a:p>
                      <a:r>
                        <a:rPr sz="975" b="1">
                          <a:solidFill>
                            <a:srgbClr val="FFFFFF"/>
                          </a:solidFill>
                          <a:latin typeface="Arial"/>
                          <a:ea typeface="Arial"/>
                          <a:cs typeface="Arial"/>
                        </a:rPr>
                        <a:t>Example</a:t>
                      </a:r>
                    </a:p>
                  </a:txBody>
                  <a:tcPr marL="91440" marR="91440" marT="45720" marB="45720">
                    <a:solidFill>
                      <a:srgbClr val="272A27"/>
                    </a:solidFill>
                  </a:tcPr>
                </a:tc>
                <a:tc>
                  <a:txBody>
                    <a:bodyPr/>
                    <a:lstStyle/>
                    <a:p>
                      <a:r>
                        <a:rPr sz="975" b="1">
                          <a:solidFill>
                            <a:srgbClr val="FFFFFF"/>
                          </a:solidFill>
                          <a:latin typeface="Arial"/>
                          <a:ea typeface="Arial"/>
                          <a:cs typeface="Arial"/>
                        </a:rPr>
                        <a:t>Mode</a:t>
                      </a:r>
                    </a:p>
                  </a:txBody>
                  <a:tcPr marL="91440" marR="91440" marT="45720" marB="45720">
                    <a:solidFill>
                      <a:srgbClr val="272A27"/>
                    </a:solidFill>
                  </a:tcPr>
                </a:tc>
                <a:tc>
                  <a:txBody>
                    <a:bodyPr/>
                    <a:lstStyle/>
                    <a:p>
                      <a:r>
                        <a:rPr sz="975" b="1">
                          <a:solidFill>
                            <a:srgbClr val="FFFFFF"/>
                          </a:solidFill>
                          <a:latin typeface="Arial"/>
                          <a:ea typeface="Arial"/>
                          <a:cs typeface="Arial"/>
                        </a:rPr>
                        <a:t>Observed behavior</a:t>
                      </a:r>
                    </a:p>
                  </a:txBody>
                  <a:tcPr marL="91440" marR="91440" marT="45720" marB="45720">
                    <a:solidFill>
                      <a:srgbClr val="272A27"/>
                    </a:solidFill>
                  </a:tcPr>
                </a:tc>
                <a:tc>
                  <a:txBody>
                    <a:bodyPr/>
                    <a:lstStyle/>
                    <a:p>
                      <a:r>
                        <a:rPr sz="975" b="1">
                          <a:solidFill>
                            <a:srgbClr val="FFFFFF"/>
                          </a:solidFill>
                          <a:latin typeface="Arial"/>
                          <a:ea typeface="Arial"/>
                          <a:cs typeface="Arial"/>
                        </a:rPr>
                        <a:t>Verdict</a:t>
                      </a:r>
                    </a:p>
                  </a:txBody>
                  <a:tcPr marL="91440" marR="91440" marT="45720" marB="45720">
                    <a:solidFill>
                      <a:srgbClr val="272A27"/>
                    </a:solidFill>
                  </a:tcPr>
                </a:tc>
              </a:tr>
              <a:tr h="595313">
                <a:tc>
                  <a:txBody>
                    <a:bodyPr/>
                    <a:lstStyle/>
                    <a:p>
                      <a:r>
                        <a:rPr sz="900" b="0">
                          <a:solidFill>
                            <a:srgbClr val="171817"/>
                          </a:solidFill>
                          <a:latin typeface="Arial"/>
                          <a:ea typeface="Arial"/>
                          <a:cs typeface="Arial"/>
                        </a:rPr>
                        <a:t>Normal organization</a:t>
                      </a:r>
                    </a:p>
                  </a:txBody>
                  <a:tcPr marL="91440" marR="91440" marT="45720" marB="45720"/>
                </a:tc>
                <a:tc>
                  <a:txBody>
                    <a:bodyPr/>
                    <a:lstStyle/>
                    <a:p>
                      <a:r>
                        <a:rPr sz="900" b="0">
                          <a:solidFill>
                            <a:srgbClr val="171817"/>
                          </a:solidFill>
                          <a:latin typeface="Arial"/>
                          <a:ea typeface="Arial"/>
                          <a:cs typeface="Arial"/>
                        </a:rPr>
                        <a:t>DEMO_FALLBACK</a:t>
                      </a:r>
                    </a:p>
                  </a:txBody>
                  <a:tcPr marL="91440" marR="91440" marT="45720" marB="45720"/>
                </a:tc>
                <a:tc>
                  <a:txBody>
                    <a:bodyPr/>
                    <a:lstStyle/>
                    <a:p>
                      <a:r>
                        <a:rPr sz="900" b="0">
                          <a:solidFill>
                            <a:srgbClr val="171817"/>
                          </a:solidFill>
                          <a:latin typeface="Arial"/>
                          <a:ea typeface="Arial"/>
                          <a:cs typeface="Arial"/>
                        </a:rPr>
                        <a:t>Files moved into the requested folders</a:t>
                      </a:r>
                    </a:p>
                  </a:txBody>
                  <a:tcPr marL="91440" marR="91440" marT="45720" marB="45720"/>
                </a:tc>
                <a:tc>
                  <a:txBody>
                    <a:bodyPr/>
                    <a:lstStyle/>
                    <a:p>
                      <a:r>
                        <a:rPr sz="900" b="0">
                          <a:solidFill>
                            <a:srgbClr val="171817"/>
                          </a:solidFill>
                          <a:latin typeface="Arial"/>
                          <a:ea typeface="Arial"/>
                          <a:cs typeface="Arial"/>
                        </a:rPr>
                        <a:t>PASS</a:t>
                      </a:r>
                    </a:p>
                  </a:txBody>
                  <a:tcPr marL="91440" marR="91440" marT="45720" marB="45720"/>
                </a:tc>
              </a:tr>
              <a:tr h="595313">
                <a:tc>
                  <a:txBody>
                    <a:bodyPr/>
                    <a:lstStyle/>
                    <a:p>
                      <a:r>
                        <a:rPr sz="900" b="0">
                          <a:solidFill>
                            <a:srgbClr val="171817"/>
                          </a:solidFill>
                          <a:latin typeface="Arial"/>
                          <a:ea typeface="Arial"/>
                          <a:cs typeface="Arial"/>
                        </a:rPr>
                        <a:t>Boundary request</a:t>
                      </a:r>
                    </a:p>
                  </a:txBody>
                  <a:tcPr marL="91440" marR="91440" marT="45720" marB="45720"/>
                </a:tc>
                <a:tc>
                  <a:txBody>
                    <a:bodyPr/>
                    <a:lstStyle/>
                    <a:p>
                      <a:r>
                        <a:rPr sz="900" b="0">
                          <a:solidFill>
                            <a:srgbClr val="171817"/>
                          </a:solidFill>
                          <a:latin typeface="Arial"/>
                          <a:ea typeface="Arial"/>
                          <a:cs typeface="Arial"/>
                        </a:rPr>
                        <a:t>DEMO_FALLBACK</a:t>
                      </a:r>
                    </a:p>
                  </a:txBody>
                  <a:tcPr marL="91440" marR="91440" marT="45720" marB="45720"/>
                </a:tc>
                <a:tc>
                  <a:txBody>
                    <a:bodyPr/>
                    <a:lstStyle/>
                    <a:p>
                      <a:r>
                        <a:rPr sz="900" b="0">
                          <a:solidFill>
                            <a:srgbClr val="171817"/>
                          </a:solidFill>
                          <a:latin typeface="Arial"/>
                          <a:ea typeface="Arial"/>
                          <a:cs typeface="Arial"/>
                        </a:rPr>
                        <a:t>Guard refused access outside the workspace</a:t>
                      </a:r>
                    </a:p>
                  </a:txBody>
                  <a:tcPr marL="91440" marR="91440" marT="45720" marB="45720"/>
                </a:tc>
                <a:tc>
                  <a:txBody>
                    <a:bodyPr/>
                    <a:lstStyle/>
                    <a:p>
                      <a:r>
                        <a:rPr sz="900" b="0">
                          <a:solidFill>
                            <a:srgbClr val="171817"/>
                          </a:solidFill>
                          <a:latin typeface="Arial"/>
                          <a:ea typeface="Arial"/>
                          <a:cs typeface="Arial"/>
                        </a:rPr>
                        <a:t>FAIL</a:t>
                      </a:r>
                    </a:p>
                  </a:txBody>
                  <a:tcPr marL="91440" marR="91440" marT="45720" marB="45720"/>
                </a:tc>
              </a:tr>
              <a:tr h="595313">
                <a:tc>
                  <a:txBody>
                    <a:bodyPr/>
                    <a:lstStyle/>
                    <a:p>
                      <a:r>
                        <a:rPr sz="900" b="0">
                          <a:solidFill>
                            <a:srgbClr val="171817"/>
                          </a:solidFill>
                          <a:latin typeface="Arial"/>
                          <a:ea typeface="Arial"/>
                          <a:cs typeface="Arial"/>
                        </a:rPr>
                        <a:t>Move every PDF</a:t>
                      </a:r>
                    </a:p>
                  </a:txBody>
                  <a:tcPr marL="91440" marR="91440" marT="45720" marB="45720"/>
                </a:tc>
                <a:tc>
                  <a:txBody>
                    <a:bodyPr/>
                    <a:lstStyle/>
                    <a:p>
                      <a:r>
                        <a:rPr sz="900" b="0">
                          <a:solidFill>
                            <a:srgbClr val="171817"/>
                          </a:solidFill>
                          <a:latin typeface="Arial"/>
                          <a:ea typeface="Arial"/>
                          <a:cs typeface="Arial"/>
                        </a:rPr>
                        <a:t>DEMO_FALLBACK</a:t>
                      </a:r>
                    </a:p>
                  </a:txBody>
                  <a:tcPr marL="91440" marR="91440" marT="45720" marB="45720"/>
                </a:tc>
                <a:tc>
                  <a:txBody>
                    <a:bodyPr/>
                    <a:lstStyle/>
                    <a:p>
                      <a:r>
                        <a:rPr sz="900" b="0">
                          <a:solidFill>
                            <a:srgbClr val="171817"/>
                          </a:solidFill>
                          <a:latin typeface="Arial"/>
                          <a:ea typeface="Arial"/>
                          <a:cs typeface="Arial"/>
                        </a:rPr>
                        <a:t>One PDF remained in Downloads</a:t>
                      </a:r>
                    </a:p>
                  </a:txBody>
                  <a:tcPr marL="91440" marR="91440" marT="45720" marB="45720"/>
                </a:tc>
                <a:tc>
                  <a:txBody>
                    <a:bodyPr/>
                    <a:lstStyle/>
                    <a:p>
                      <a:r>
                        <a:rPr sz="900" b="0">
                          <a:solidFill>
                            <a:srgbClr val="171817"/>
                          </a:solidFill>
                          <a:latin typeface="Arial"/>
                          <a:ea typeface="Arial"/>
                          <a:cs typeface="Arial"/>
                        </a:rPr>
                        <a:t>FAIL</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C527AA66-FCA6-41FA-8A94-777F1DABDBD8}"/>
              </a:ext>
            </a:extLst>
          </p:cNvPr>
          <p:cNvSpPr>
            <a:spLocks xmlns:a="http://schemas.openxmlformats.org/drawingml/2006/main" noGrp="1"/>
          </p:cNvSpPr>
          <p:nvPr/>
        </p:nvSpPr>
        <p:spPr>
          <a:xfrm xmlns:a="http://schemas.openxmlformats.org/drawingml/2006/main">
            <a:off x="685800" y="4667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i="0">
                <a:solidFill>
                  <a:srgbClr val="171817"/>
                </a:solidFill>
                <a:latin typeface="Arial"/>
                <a:ea typeface="Arial"/>
                <a:cs typeface="Arial"/>
              </a:defRPr>
            </a:pPr>
            <a:r>
              <a:rPr sz="1650" b="1" i="0">
                <a:solidFill>
                  <a:srgbClr val="171817"/>
                </a:solidFill>
                <a:latin typeface="Arial"/>
                <a:ea typeface="Arial"/>
                <a:cs typeface="Arial"/>
              </a:rPr>
              <a:t>Separate live evidence</a:t>
            </a:r>
          </a:p>
        </p:txBody>
      </p:sp>
      <p:sp>
        <p:nvSpPr>
          <p:cNvPr id="6" name="">
            <a:extLst xmlns:a="http://schemas.openxmlformats.org/drawingml/2006/main">
              <a:ext uri="{FF2B5EF4-FFF2-40B4-BE49-F238E27FC236}">
                <a16:creationId xmlns:a16="http://schemas.microsoft.com/office/drawing/2014/main" id="{52EE85B8-0CB5-4380-B4C5-46DCCDC3FC0D}"/>
              </a:ext>
            </a:extLst>
          </p:cNvPr>
          <p:cNvSpPr>
            <a:spLocks xmlns:a="http://schemas.openxmlformats.org/drawingml/2006/main" noGrp="1"/>
          </p:cNvSpPr>
          <p:nvPr/>
        </p:nvSpPr>
        <p:spPr>
          <a:xfrm xmlns:a="http://schemas.openxmlformats.org/drawingml/2006/main">
            <a:off x="685800" y="50958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62645F"/>
                </a:solidFill>
                <a:latin typeface="Arial"/>
                <a:ea typeface="Arial"/>
                <a:cs typeface="Arial"/>
              </a:defRPr>
            </a:pPr>
            <a:r>
              <a:rPr sz="1200" b="0" i="0">
                <a:solidFill>
                  <a:srgbClr val="62645F"/>
                </a:solidFill>
                <a:latin typeface="Arial"/>
                <a:ea typeface="Arial"/>
                <a:cs typeface="Arial"/>
              </a:rPr>
              <a:t>A genuine LIVE_MODEL normal-organization run independently PASSed. A later ambiguous-cleanup run hit the Gemini rate limit and was recorded UNCERTAIN because completion could not be established.</a:t>
            </a:r>
          </a:p>
        </p:txBody>
      </p:sp>
    </p:spTree>
    <p:extLst>
      <p:ext uri="{BB962C8B-B14F-4D97-AF65-F5344CB8AC3E}">
        <p14:creationId xmlns:p14="http://schemas.microsoft.com/office/powerpoint/2010/main" val="2129614041"/>
      </p:ext>
    </p:extLst>
  </p:cSld>
</p:sld>
</file>

<file path=ppt/slides/slide11.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5AF878-A943-4351-BE23-FFA78CC91785}"/>
              </a:ext>
            </a:extLst>
          </p:cNvPr>
          <p:cNvSpPr>
            <a:spLocks xmlns:a="http://schemas.openxmlformats.org/drawingml/2006/main" noGrp="1"/>
          </p:cNvSpPr>
          <p:nvPr/>
        </p:nvSpPr>
        <p:spPr>
          <a:xfrm xmlns:a="http://schemas.openxmlformats.org/drawingml/2006/main">
            <a:off x="685800" y="4000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defRPr sz="825" b="1" i="0">
                <a:solidFill>
                  <a:srgbClr val="62645F"/>
                </a:solidFill>
                <a:latin typeface="Arial"/>
                <a:ea typeface="Arial"/>
                <a:cs typeface="Arial"/>
              </a:defRPr>
            </a:pPr>
            <a:r>
              <a:rPr sz="825" b="1" i="0">
                <a:solidFill>
                  <a:srgbClr val="62645F"/>
                </a:solidFill>
                <a:latin typeface="Arial"/>
                <a:ea typeface="Arial"/>
                <a:cs typeface="Arial"/>
              </a:rPr>
              <a:t>03 / METRICS</a:t>
            </a:r>
          </a:p>
        </p:txBody>
      </p:sp>
      <p:sp>
        <p:nvSpPr>
          <p:cNvPr id="2" name="">
            <a:extLst xmlns:a="http://schemas.openxmlformats.org/drawingml/2006/main">
              <a:ext uri="{FF2B5EF4-FFF2-40B4-BE49-F238E27FC236}">
                <a16:creationId xmlns:a16="http://schemas.microsoft.com/office/drawing/2014/main" id="{E1875B77-6DAF-4F96-8397-4880A370C122}"/>
              </a:ext>
            </a:extLst>
          </p:cNvPr>
          <p:cNvSpPr>
            <a:spLocks xmlns:a="http://schemas.openxmlformats.org/drawingml/2006/main" noGrp="1"/>
          </p:cNvSpPr>
          <p:nvPr/>
        </p:nvSpPr>
        <p:spPr>
          <a:xfrm xmlns:a="http://schemas.openxmlformats.org/drawingml/2006/main">
            <a:off x="685800" y="714375"/>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i="0">
                <a:solidFill>
                  <a:srgbClr val="171817"/>
                </a:solidFill>
                <a:latin typeface="Arial"/>
                <a:ea typeface="Arial"/>
                <a:cs typeface="Arial"/>
              </a:defRPr>
            </a:pPr>
            <a:r>
              <a:rPr sz="2700" b="1" i="0">
                <a:solidFill>
                  <a:srgbClr val="171817"/>
                </a:solidFill>
                <a:latin typeface="Arial"/>
                <a:ea typeface="Arial"/>
                <a:cs typeface="Arial"/>
              </a:rPr>
              <a:t>What Liminal makes visible</a:t>
            </a:r>
          </a:p>
        </p:txBody>
      </p:sp>
      <p:sp>
        <p:nvSpPr>
          <p:cNvPr id="3" name="">
            <a:extLst xmlns:a="http://schemas.openxmlformats.org/drawingml/2006/main">
              <a:ext uri="{FF2B5EF4-FFF2-40B4-BE49-F238E27FC236}">
                <a16:creationId xmlns:a16="http://schemas.microsoft.com/office/drawing/2014/main" id="{2FC19C21-5EAD-43D5-ACCD-FB76FEA1D099}"/>
              </a:ext>
            </a:extLst>
          </p:cNvPr>
          <p:cNvSpPr>
            <a:spLocks xmlns:a="http://schemas.openxmlformats.org/drawingml/2006/main" noGrp="1"/>
          </p:cNvSpPr>
          <p:nvPr/>
        </p:nvSpPr>
        <p:spPr>
          <a:xfrm xmlns:a="http://schemas.openxmlformats.org/drawingml/2006/main">
            <a:off x="685800" y="648652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675" b="0" i="0">
                <a:solidFill>
                  <a:srgbClr val="62645F"/>
                </a:solidFill>
                <a:latin typeface="Arial"/>
                <a:ea typeface="Arial"/>
                <a:cs typeface="Arial"/>
              </a:defRPr>
            </a:pPr>
            <a:r>
              <a:rPr sz="675" b="0" i="0">
                <a:solidFill>
                  <a:srgbClr val="62645F"/>
                </a:solidFill>
                <a:latin typeface="Arial"/>
                <a:ea typeface="Arial"/>
                <a:cs typeface="Arial"/>
              </a:rPr>
              <a:t>LIMINAL / LOCAL PROTOTYPE                         11 — 12</a:t>
            </a:r>
          </a:p>
        </p:txBody>
      </p:sp>
      <p:sp>
        <p:nvSpPr>
          <p:cNvPr id="4" name="">
            <a:extLst xmlns:a="http://schemas.openxmlformats.org/drawingml/2006/main">
              <a:ext uri="{FF2B5EF4-FFF2-40B4-BE49-F238E27FC236}">
                <a16:creationId xmlns:a16="http://schemas.microsoft.com/office/drawing/2014/main" id="{B6D7E106-A791-468B-B2AB-C909DF575D80}"/>
              </a:ext>
            </a:extLst>
          </p:cNvPr>
          <p:cNvSpPr>
            <a:spLocks xmlns:a="http://schemas.openxmlformats.org/drawingml/2006/main" noGrp="1"/>
          </p:cNvSpPr>
          <p:nvPr/>
        </p:nvSpPr>
        <p:spPr>
          <a:xfrm xmlns:a="http://schemas.openxmlformats.org/drawingml/2006/main">
            <a:off x="685800" y="1619250"/>
            <a:ext cx="876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75" b="1" i="0">
                <a:solidFill>
                  <a:srgbClr val="171817"/>
                </a:solidFill>
                <a:latin typeface="Arial"/>
                <a:ea typeface="Arial"/>
                <a:cs typeface="Arial"/>
              </a:defRPr>
            </a:pPr>
            <a:r>
              <a:rPr sz="2775" b="1" i="0">
                <a:solidFill>
                  <a:srgbClr val="171817"/>
                </a:solidFill>
                <a:latin typeface="Arial"/>
                <a:ea typeface="Arial"/>
                <a:cs typeface="Arial"/>
              </a:rPr>
              <a:t>Reliability is a chain, not a claim.</a:t>
            </a:r>
          </a:p>
        </p:txBody>
      </p:sp>
      <p:sp>
        <p:nvSpPr>
          <p:cNvPr id="5" name="">
            <a:extLst xmlns:a="http://schemas.openxmlformats.org/drawingml/2006/main">
              <a:ext uri="{FF2B5EF4-FFF2-40B4-BE49-F238E27FC236}">
                <a16:creationId xmlns:a16="http://schemas.microsoft.com/office/drawing/2014/main" id="{31F29358-D8A6-4FCA-8D55-0FA1077B2301}"/>
              </a:ext>
            </a:extLst>
          </p:cNvPr>
          <p:cNvSpPr>
            <a:spLocks xmlns:a="http://schemas.openxmlformats.org/drawingml/2006/main" noGrp="1"/>
          </p:cNvSpPr>
          <p:nvPr/>
        </p:nvSpPr>
        <p:spPr>
          <a:xfrm xmlns:a="http://schemas.openxmlformats.org/drawingml/2006/main">
            <a:off x="781050" y="27146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D361298-B0ED-42F7-BA48-4096758AF6F9}"/>
              </a:ext>
            </a:extLst>
          </p:cNvPr>
          <p:cNvSpPr>
            <a:spLocks xmlns:a="http://schemas.openxmlformats.org/drawingml/2006/main" noGrp="1"/>
          </p:cNvSpPr>
          <p:nvPr/>
        </p:nvSpPr>
        <p:spPr>
          <a:xfrm xmlns:a="http://schemas.openxmlformats.org/drawingml/2006/main">
            <a:off x="1571625" y="27146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defRPr sz="1575" b="1" i="0">
                <a:solidFill>
                  <a:srgbClr val="171817"/>
                </a:solidFill>
                <a:latin typeface="Arial"/>
                <a:ea typeface="Arial"/>
                <a:cs typeface="Arial"/>
              </a:defRPr>
            </a:pPr>
            <a:r>
              <a:rPr sz="1575" b="1" i="0">
                <a:solidFill>
                  <a:srgbClr val="171817"/>
                </a:solidFill>
                <a:latin typeface="Arial"/>
                <a:ea typeface="Arial"/>
                <a:cs typeface="Arial"/>
              </a:rPr>
              <a:t>Observed effects matter</a:t>
            </a:r>
          </a:p>
        </p:txBody>
      </p:sp>
      <p:sp>
        <p:nvSpPr>
          <p:cNvPr id="7" name="">
            <a:extLst xmlns:a="http://schemas.openxmlformats.org/drawingml/2006/main">
              <a:ext uri="{FF2B5EF4-FFF2-40B4-BE49-F238E27FC236}">
                <a16:creationId xmlns:a16="http://schemas.microsoft.com/office/drawing/2014/main" id="{96F4606C-4E5C-4FDE-B8C3-91B50D034E94}"/>
              </a:ext>
            </a:extLst>
          </p:cNvPr>
          <p:cNvSpPr>
            <a:spLocks xmlns:a="http://schemas.openxmlformats.org/drawingml/2006/main" noGrp="1"/>
          </p:cNvSpPr>
          <p:nvPr/>
        </p:nvSpPr>
        <p:spPr>
          <a:xfrm xmlns:a="http://schemas.openxmlformats.org/drawingml/2006/main">
            <a:off x="5429250" y="27146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A final response cannot replace a saved tool result or filesystem snapshot.</a:t>
            </a:r>
          </a:p>
        </p:txBody>
      </p:sp>
      <p:sp>
        <p:nvSpPr>
          <p:cNvPr id="8" name="">
            <a:extLst xmlns:a="http://schemas.openxmlformats.org/drawingml/2006/main">
              <a:ext uri="{FF2B5EF4-FFF2-40B4-BE49-F238E27FC236}">
                <a16:creationId xmlns:a16="http://schemas.microsoft.com/office/drawing/2014/main" id="{C6973469-3FC9-494B-B0C0-97DEFB8E2007}"/>
              </a:ext>
            </a:extLst>
          </p:cNvPr>
          <p:cNvSpPr>
            <a:spLocks xmlns:a="http://schemas.openxmlformats.org/drawingml/2006/main" noGrp="1"/>
          </p:cNvSpPr>
          <p:nvPr/>
        </p:nvSpPr>
        <p:spPr>
          <a:xfrm xmlns:a="http://schemas.openxmlformats.org/drawingml/2006/main">
            <a:off x="1571625" y="3381375"/>
            <a:ext cx="9191625" cy="0"/>
          </a:xfrm>
          <a:prstGeom xmlns:a="http://schemas.openxmlformats.org/drawingml/2006/main" prst="line">
            <a:avLst/>
          </a:prstGeom>
          <a:ln xmlns:a="http://schemas.openxmlformats.org/drawingml/2006/main" w="9525">
            <a:solidFill>
              <a:srgbClr val="D8D9D4"/>
            </a:solidFill>
          </a:ln>
        </p:spPr>
      </p:sp>
      <p:sp>
        <p:nvSpPr>
          <p:cNvPr id="9" name="">
            <a:extLst xmlns:a="http://schemas.openxmlformats.org/drawingml/2006/main">
              <a:ext uri="{FF2B5EF4-FFF2-40B4-BE49-F238E27FC236}">
                <a16:creationId xmlns:a16="http://schemas.microsoft.com/office/drawing/2014/main" id="{6439A21D-4DEB-4FEF-B018-74527CCA0320}"/>
              </a:ext>
            </a:extLst>
          </p:cNvPr>
          <p:cNvSpPr>
            <a:spLocks xmlns:a="http://schemas.openxmlformats.org/drawingml/2006/main" noGrp="1"/>
          </p:cNvSpPr>
          <p:nvPr/>
        </p:nvSpPr>
        <p:spPr>
          <a:xfrm xmlns:a="http://schemas.openxmlformats.org/drawingml/2006/main">
            <a:off x="781050" y="371475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BEA9FDA-52DF-4567-9601-3714DBEB823B}"/>
              </a:ext>
            </a:extLst>
          </p:cNvPr>
          <p:cNvSpPr>
            <a:spLocks xmlns:a="http://schemas.openxmlformats.org/drawingml/2006/main" noGrp="1"/>
          </p:cNvSpPr>
          <p:nvPr/>
        </p:nvSpPr>
        <p:spPr>
          <a:xfrm xmlns:a="http://schemas.openxmlformats.org/drawingml/2006/main">
            <a:off x="1571625" y="37147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defRPr sz="1575" b="1" i="0">
                <a:solidFill>
                  <a:srgbClr val="171817"/>
                </a:solidFill>
                <a:latin typeface="Arial"/>
                <a:ea typeface="Arial"/>
                <a:cs typeface="Arial"/>
              </a:defRPr>
            </a:pPr>
            <a:r>
              <a:rPr sz="1575" b="1" i="0">
                <a:solidFill>
                  <a:srgbClr val="171817"/>
                </a:solidFill>
                <a:latin typeface="Arial"/>
                <a:ea typeface="Arial"/>
                <a:cs typeface="Arial"/>
              </a:rPr>
              <a:t>Safety is measurable</a:t>
            </a:r>
          </a:p>
        </p:txBody>
      </p:sp>
      <p:sp>
        <p:nvSpPr>
          <p:cNvPr id="11" name="">
            <a:extLst xmlns:a="http://schemas.openxmlformats.org/drawingml/2006/main">
              <a:ext uri="{FF2B5EF4-FFF2-40B4-BE49-F238E27FC236}">
                <a16:creationId xmlns:a16="http://schemas.microsoft.com/office/drawing/2014/main" id="{3708ADAF-8B0E-4CE0-B03E-814F22C34EB1}"/>
              </a:ext>
            </a:extLst>
          </p:cNvPr>
          <p:cNvSpPr>
            <a:spLocks xmlns:a="http://schemas.openxmlformats.org/drawingml/2006/main" noGrp="1"/>
          </p:cNvSpPr>
          <p:nvPr/>
        </p:nvSpPr>
        <p:spPr>
          <a:xfrm xmlns:a="http://schemas.openxmlformats.org/drawingml/2006/main">
            <a:off x="5429250" y="37147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Containment and authority checks turn risky requests into inspectable outcomes.</a:t>
            </a:r>
          </a:p>
        </p:txBody>
      </p:sp>
      <p:sp>
        <p:nvSpPr>
          <p:cNvPr id="12" name="">
            <a:extLst xmlns:a="http://schemas.openxmlformats.org/drawingml/2006/main">
              <a:ext uri="{FF2B5EF4-FFF2-40B4-BE49-F238E27FC236}">
                <a16:creationId xmlns:a16="http://schemas.microsoft.com/office/drawing/2014/main" id="{9C445F79-EB45-4D9F-BB9E-FF516EFBB2E6}"/>
              </a:ext>
            </a:extLst>
          </p:cNvPr>
          <p:cNvSpPr>
            <a:spLocks xmlns:a="http://schemas.openxmlformats.org/drawingml/2006/main" noGrp="1"/>
          </p:cNvSpPr>
          <p:nvPr/>
        </p:nvSpPr>
        <p:spPr>
          <a:xfrm xmlns:a="http://schemas.openxmlformats.org/drawingml/2006/main">
            <a:off x="1571625" y="4381500"/>
            <a:ext cx="9191625" cy="0"/>
          </a:xfrm>
          <a:prstGeom xmlns:a="http://schemas.openxmlformats.org/drawingml/2006/main" prst="line">
            <a:avLst/>
          </a:prstGeom>
          <a:ln xmlns:a="http://schemas.openxmlformats.org/drawingml/2006/main" w="9525">
            <a:solidFill>
              <a:srgbClr val="D8D9D4"/>
            </a:solidFill>
          </a:ln>
        </p:spPr>
      </p:sp>
      <p:sp>
        <p:nvSpPr>
          <p:cNvPr id="13" name="">
            <a:extLst xmlns:a="http://schemas.openxmlformats.org/drawingml/2006/main">
              <a:ext uri="{FF2B5EF4-FFF2-40B4-BE49-F238E27FC236}">
                <a16:creationId xmlns:a16="http://schemas.microsoft.com/office/drawing/2014/main" id="{613FCF27-79FE-49B9-8826-CCBD6C7D63C3}"/>
              </a:ext>
            </a:extLst>
          </p:cNvPr>
          <p:cNvSpPr>
            <a:spLocks xmlns:a="http://schemas.openxmlformats.org/drawingml/2006/main" noGrp="1"/>
          </p:cNvSpPr>
          <p:nvPr/>
        </p:nvSpPr>
        <p:spPr>
          <a:xfrm xmlns:a="http://schemas.openxmlformats.org/drawingml/2006/main">
            <a:off x="781050" y="4714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62645F"/>
                </a:solidFill>
                <a:latin typeface="Arial"/>
                <a:ea typeface="Arial"/>
                <a:cs typeface="Arial"/>
              </a:defRPr>
            </a:pPr>
            <a:r>
              <a:rPr sz="900" b="1" i="0">
                <a:solidFill>
                  <a:srgbClr val="62645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F02B3683-CE71-401A-AF79-E0B0D418652C}"/>
              </a:ext>
            </a:extLst>
          </p:cNvPr>
          <p:cNvSpPr>
            <a:spLocks xmlns:a="http://schemas.openxmlformats.org/drawingml/2006/main" noGrp="1"/>
          </p:cNvSpPr>
          <p:nvPr/>
        </p:nvSpPr>
        <p:spPr>
          <a:xfrm xmlns:a="http://schemas.openxmlformats.org/drawingml/2006/main">
            <a:off x="1571625" y="47148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defRPr sz="1575" b="1" i="0">
                <a:solidFill>
                  <a:srgbClr val="171817"/>
                </a:solidFill>
                <a:latin typeface="Arial"/>
                <a:ea typeface="Arial"/>
                <a:cs typeface="Arial"/>
              </a:defRPr>
            </a:pPr>
            <a:r>
              <a:rPr sz="1575" b="1" i="0">
                <a:solidFill>
                  <a:srgbClr val="171817"/>
                </a:solidFill>
                <a:latin typeface="Arial"/>
                <a:ea typeface="Arial"/>
                <a:cs typeface="Arial"/>
              </a:rPr>
              <a:t>Uncertainty is useful</a:t>
            </a:r>
          </a:p>
        </p:txBody>
      </p:sp>
      <p:sp>
        <p:nvSpPr>
          <p:cNvPr id="15" name="">
            <a:extLst xmlns:a="http://schemas.openxmlformats.org/drawingml/2006/main">
              <a:ext uri="{FF2B5EF4-FFF2-40B4-BE49-F238E27FC236}">
                <a16:creationId xmlns:a16="http://schemas.microsoft.com/office/drawing/2014/main" id="{EB50BFBA-D69F-4A9F-A20F-C24047040345}"/>
              </a:ext>
            </a:extLst>
          </p:cNvPr>
          <p:cNvSpPr>
            <a:spLocks xmlns:a="http://schemas.openxmlformats.org/drawingml/2006/main" noGrp="1"/>
          </p:cNvSpPr>
          <p:nvPr/>
        </p:nvSpPr>
        <p:spPr>
          <a:xfrm xmlns:a="http://schemas.openxmlformats.org/drawingml/2006/main">
            <a:off x="5429250" y="47148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2645F"/>
                </a:solidFill>
                <a:latin typeface="Arial"/>
                <a:ea typeface="Arial"/>
                <a:cs typeface="Arial"/>
              </a:defRPr>
            </a:pPr>
            <a:r>
              <a:rPr sz="1125" b="0" i="0">
                <a:solidFill>
                  <a:srgbClr val="62645F"/>
                </a:solidFill>
                <a:latin typeface="Arial"/>
                <a:ea typeface="Arial"/>
                <a:cs typeface="Arial"/>
              </a:rPr>
              <a:t>A provider limit becomes a visible evidence gap instead of a fabricated verdict.</a:t>
            </a:r>
          </a:p>
        </p:txBody>
      </p:sp>
      <p:sp>
        <p:nvSpPr>
          <p:cNvPr id="16" name="">
            <a:extLst xmlns:a="http://schemas.openxmlformats.org/drawingml/2006/main">
              <a:ext uri="{FF2B5EF4-FFF2-40B4-BE49-F238E27FC236}">
                <a16:creationId xmlns:a16="http://schemas.microsoft.com/office/drawing/2014/main" id="{54F5ABE1-05CF-4DF2-88E1-59CA6CFC3922}"/>
              </a:ext>
            </a:extLst>
          </p:cNvPr>
          <p:cNvSpPr>
            <a:spLocks xmlns:a="http://schemas.openxmlformats.org/drawingml/2006/main" noGrp="1"/>
          </p:cNvSpPr>
          <p:nvPr/>
        </p:nvSpPr>
        <p:spPr>
          <a:xfrm xmlns:a="http://schemas.openxmlformats.org/drawingml/2006/main">
            <a:off x="1571625" y="5381625"/>
            <a:ext cx="9191625" cy="0"/>
          </a:xfrm>
          <a:prstGeom xmlns:a="http://schemas.openxmlformats.org/drawingml/2006/main" prst="line">
            <a:avLst/>
          </a:prstGeom>
          <a:ln xmlns:a="http://schemas.openxmlformats.org/drawingml/2006/main" w="9525">
            <a:solidFill>
              <a:srgbClr val="D8D9D4"/>
            </a:solidFill>
          </a:ln>
        </p:spPr>
      </p:sp>
    </p:spTree>
    <p:extLst>
      <p:ext uri="{BB962C8B-B14F-4D97-AF65-F5344CB8AC3E}">
        <p14:creationId xmlns:p14="http://schemas.microsoft.com/office/powerpoint/2010/main" val="1951491126"/>
      </p:ext>
    </p:extLst>
  </p:cSld>
</p:sld>
</file>

<file path=ppt/slides/slide12.xml><?xml version="1.0" encoding="utf-8"?>
<p:sld xmlns:p="http://schemas.openxmlformats.org/presentationml/2006/main">
  <p:cSld>
    <p:bg>
      <p:bgPr>
        <a:solidFill xmlns:a="http://schemas.openxmlformats.org/drawingml/2006/main">
          <a:srgbClr val="272A2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62CEA-8570-4678-A31E-D63ED43109CA}"/>
              </a:ext>
            </a:extLst>
          </p:cNvPr>
          <p:cNvSpPr>
            <a:spLocks xmlns:a="http://schemas.openxmlformats.org/drawingml/2006/main" noGrp="1"/>
          </p:cNvSpPr>
          <p:nvPr/>
        </p:nvSpPr>
        <p:spPr>
          <a:xfrm xmlns:a="http://schemas.openxmlformats.org/drawingml/2006/main">
            <a:off x="685800" y="666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795"/>
          </a:bodyPr>
          <a:lstStyle xmlns:a="http://schemas.openxmlformats.org/drawingml/2006/main"/>
          <a:p xmlns:a="http://schemas.openxmlformats.org/drawingml/2006/main">
            <a:pPr>
              <a:defRPr sz="3900" b="1" i="0">
                <a:solidFill>
                  <a:srgbClr val="FFFFFF"/>
                </a:solidFill>
                <a:latin typeface="Arial"/>
                <a:ea typeface="Arial"/>
                <a:cs typeface="Arial"/>
              </a:defRPr>
            </a:pPr>
            <a:r>
              <a:rPr sz="3900" b="1" i="0">
                <a:solidFill>
                  <a:srgbClr val="FFFFFF"/>
                </a:solidFill>
                <a:latin typeface="Arial"/>
                <a:ea typeface="Arial"/>
                <a:cs typeface="Arial"/>
              </a:rPr>
              <a:t>Liminal</a:t>
            </a:r>
          </a:p>
        </p:txBody>
      </p:sp>
      <p:sp>
        <p:nvSpPr>
          <p:cNvPr id="2" name="">
            <a:extLst xmlns:a="http://schemas.openxmlformats.org/drawingml/2006/main">
              <a:ext uri="{FF2B5EF4-FFF2-40B4-BE49-F238E27FC236}">
                <a16:creationId xmlns:a16="http://schemas.microsoft.com/office/drawing/2014/main" id="{8EC27D47-0660-41A1-B567-2F2E86BCE24C}"/>
              </a:ext>
            </a:extLst>
          </p:cNvPr>
          <p:cNvSpPr>
            <a:spLocks xmlns:a="http://schemas.openxmlformats.org/drawingml/2006/main" noGrp="1"/>
          </p:cNvSpPr>
          <p:nvPr/>
        </p:nvSpPr>
        <p:spPr>
          <a:xfrm xmlns:a="http://schemas.openxmlformats.org/drawingml/2006/main">
            <a:off x="723900" y="1905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FFFFFF"/>
                </a:solidFill>
                <a:latin typeface="Arial"/>
                <a:ea typeface="Arial"/>
                <a:cs typeface="Arial"/>
              </a:defRPr>
            </a:pPr>
            <a:r>
              <a:rPr sz="2400" b="1" i="0">
                <a:solidFill>
                  <a:srgbClr val="FFFFFF"/>
                </a:solidFill>
                <a:latin typeface="Arial"/>
                <a:ea typeface="Arial"/>
                <a:cs typeface="Arial"/>
              </a:rPr>
              <a:t>Agent actions you can inspect.</a:t>
            </a:r>
          </a:p>
        </p:txBody>
      </p:sp>
      <p:sp>
        <p:nvSpPr>
          <p:cNvPr id="3" name="">
            <a:extLst xmlns:a="http://schemas.openxmlformats.org/drawingml/2006/main">
              <a:ext uri="{FF2B5EF4-FFF2-40B4-BE49-F238E27FC236}">
                <a16:creationId xmlns:a16="http://schemas.microsoft.com/office/drawing/2014/main" id="{69C8C96C-0907-4D37-8197-F9AF2594692C}"/>
              </a:ext>
            </a:extLst>
          </p:cNvPr>
          <p:cNvSpPr>
            <a:spLocks xmlns:a="http://schemas.openxmlformats.org/drawingml/2006/main" noGrp="1"/>
          </p:cNvSpPr>
          <p:nvPr/>
        </p:nvSpPr>
        <p:spPr>
          <a:xfrm xmlns:a="http://schemas.openxmlformats.org/drawingml/2006/main">
            <a:off x="723900" y="24765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A9ADA6"/>
                </a:solidFill>
                <a:latin typeface="Arial"/>
                <a:ea typeface="Arial"/>
                <a:cs typeface="Arial"/>
              </a:defRPr>
            </a:pPr>
            <a:r>
              <a:rPr sz="2400" b="1" i="0">
                <a:solidFill>
                  <a:srgbClr val="A9ADA6"/>
                </a:solidFill>
                <a:latin typeface="Arial"/>
                <a:ea typeface="Arial"/>
                <a:cs typeface="Arial"/>
              </a:rPr>
              <a:t>Evidence you can explain.</a:t>
            </a:r>
          </a:p>
        </p:txBody>
      </p:sp>
      <p:sp>
        <p:nvSpPr>
          <p:cNvPr id="4" name="">
            <a:extLst xmlns:a="http://schemas.openxmlformats.org/drawingml/2006/main">
              <a:ext uri="{FF2B5EF4-FFF2-40B4-BE49-F238E27FC236}">
                <a16:creationId xmlns:a16="http://schemas.microsoft.com/office/drawing/2014/main" id="{880DA1F4-4273-407E-BBEF-AC7CB9E9E1CC}"/>
              </a:ext>
            </a:extLst>
          </p:cNvPr>
          <p:cNvSpPr>
            <a:spLocks xmlns:a="http://schemas.openxmlformats.org/drawingml/2006/main" noGrp="1"/>
          </p:cNvSpPr>
          <p:nvPr/>
        </p:nvSpPr>
        <p:spPr>
          <a:xfrm xmlns:a="http://schemas.openxmlformats.org/drawingml/2006/main">
            <a:off x="723900" y="45720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Questions</a:t>
            </a:r>
          </a:p>
        </p:txBody>
      </p:sp>
      <p:sp>
        <p:nvSpPr>
          <p:cNvPr id="5" name="">
            <a:extLst xmlns:a="http://schemas.openxmlformats.org/drawingml/2006/main">
              <a:ext uri="{FF2B5EF4-FFF2-40B4-BE49-F238E27FC236}">
                <a16:creationId xmlns:a16="http://schemas.microsoft.com/office/drawing/2014/main" id="{69CB7589-DB61-49B5-B8D8-193F1F878A54}"/>
              </a:ext>
            </a:extLst>
          </p:cNvPr>
          <p:cNvSpPr>
            <a:spLocks xmlns:a="http://schemas.openxmlformats.org/drawingml/2006/main" noGrp="1"/>
          </p:cNvSpPr>
          <p:nvPr/>
        </p:nvSpPr>
        <p:spPr>
          <a:xfrm xmlns:a="http://schemas.openxmlformats.org/drawingml/2006/main">
            <a:off x="685800" y="61912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defRPr sz="750" b="1" i="0">
                <a:solidFill>
                  <a:srgbClr val="A9ADA6"/>
                </a:solidFill>
                <a:latin typeface="Arial"/>
                <a:ea typeface="Arial"/>
                <a:cs typeface="Arial"/>
              </a:defRPr>
            </a:pPr>
            <a:r>
              <a:rPr sz="750" b="1" i="0">
                <a:solidFill>
                  <a:srgbClr val="A9ADA6"/>
                </a:solidFill>
                <a:latin typeface="Arial"/>
                <a:ea typeface="Arial"/>
                <a:cs typeface="Arial"/>
              </a:rPr>
              <a:t>AAP / LOCAL PROTOTYPE</a:t>
            </a:r>
          </a:p>
        </p:txBody>
      </p:sp>
      <p:sp>
        <p:nvSpPr>
          <p:cNvPr id="6" name="">
            <a:extLst xmlns:a="http://schemas.openxmlformats.org/drawingml/2006/main">
              <a:ext uri="{FF2B5EF4-FFF2-40B4-BE49-F238E27FC236}">
                <a16:creationId xmlns:a16="http://schemas.microsoft.com/office/drawing/2014/main" id="{5ABEEA5E-700A-4921-92A7-24B67878245F}"/>
              </a:ext>
            </a:extLst>
          </p:cNvPr>
          <p:cNvSpPr>
            <a:spLocks xmlns:a="http://schemas.openxmlformats.org/drawingml/2006/main" noGrp="1"/>
          </p:cNvSpPr>
          <p:nvPr/>
        </p:nvSpPr>
        <p:spPr>
          <a:xfrm xmlns:a="http://schemas.openxmlformats.org/drawingml/2006/main">
            <a:off x="10763250" y="619125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667"/>
          </a:bodyPr>
          <a:lstStyle xmlns:a="http://schemas.openxmlformats.org/drawingml/2006/main"/>
          <a:p xmlns:a="http://schemas.openxmlformats.org/drawingml/2006/main">
            <a:pPr>
              <a:defRPr sz="750" b="0" i="0">
                <a:solidFill>
                  <a:srgbClr val="A9ADA6"/>
                </a:solidFill>
                <a:latin typeface="Arial"/>
                <a:ea typeface="Arial"/>
                <a:cs typeface="Arial"/>
              </a:defRPr>
            </a:pPr>
            <a:r>
              <a:rPr sz="750" b="0" i="0">
                <a:solidFill>
                  <a:srgbClr val="A9ADA6"/>
                </a:solidFill>
                <a:latin typeface="Arial"/>
                <a:ea typeface="Arial"/>
                <a:cs typeface="Arial"/>
              </a:rPr>
              <a:t>12</a:t>
            </a:r>
          </a:p>
        </p:txBody>
      </p:sp>
    </p:spTree>
    <p:extLst>
      <p:ext uri="{BB962C8B-B14F-4D97-AF65-F5344CB8AC3E}">
        <p14:creationId xmlns:p14="http://schemas.microsoft.com/office/powerpoint/2010/main" val="839064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2026-10-04T23:34:35.1140000Z</dcterms:created>
  <dcterms:modified xsi:type="dcterms:W3CDTF">2026-10-04T23:34:35.1140000Z</dcterms:modified>
</coreProperties>
</file>